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ff9d53a7f443a5" /><Relationship Type="http://schemas.openxmlformats.org/officeDocument/2006/relationships/extended-properties" Target="/docProps/app.xml" Id="Raee3e84df487497f" /><Relationship Type="http://schemas.openxmlformats.org/officeDocument/2006/relationships/officeDocument" Target="/ppt/presentation.xml" Id="R2c58776bf3234a05" /></Relationships>
</file>

<file path=ppt/presentation.xml><?xml version="1.0" encoding="utf-8"?>
<p:presentation xmlns:p="http://schemas.openxmlformats.org/presentationml/2006/main">
  <p:sldMasterIdLst>
    <p:sldMasterId xmlns:r="http://schemas.openxmlformats.org/officeDocument/2006/relationships" id="2147483648" r:id="Rea251de5bc714cb8"/>
  </p:sldMasterIdLst>
  <p:notesMasterIdLst>
    <p:notesMasterId xmlns:r="http://schemas.openxmlformats.org/officeDocument/2006/relationships" r:id="R8cb945be935d4173"/>
  </p:notesMasterIdLst>
  <p:sldIdLst>
    <p:sldId xmlns:r="http://schemas.openxmlformats.org/officeDocument/2006/relationships" id="256" r:id="R991901b2e5ec4dba"/>
    <p:sldId xmlns:r="http://schemas.openxmlformats.org/officeDocument/2006/relationships" id="257" r:id="Rbd9a1685d37f4567"/>
    <p:sldId xmlns:r="http://schemas.openxmlformats.org/officeDocument/2006/relationships" id="258" r:id="Rbb640ecbcde74d23"/>
    <p:sldId xmlns:r="http://schemas.openxmlformats.org/officeDocument/2006/relationships" id="259" r:id="R10cbe5515ed34c65"/>
    <p:sldId xmlns:r="http://schemas.openxmlformats.org/officeDocument/2006/relationships" id="260" r:id="Ra94e00c9a2b64f74"/>
    <p:sldId xmlns:r="http://schemas.openxmlformats.org/officeDocument/2006/relationships" id="261" r:id="R2e45587008cf48ee"/>
    <p:sldId xmlns:r="http://schemas.openxmlformats.org/officeDocument/2006/relationships" id="262" r:id="R2db2770b3adf4a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1b6008110a4dd5" /><Relationship Type="http://schemas.openxmlformats.org/officeDocument/2006/relationships/slideMaster" Target="/ppt/slideMasters/slideMaster1.xml" Id="Rea251de5bc714cb8" /><Relationship Type="http://schemas.openxmlformats.org/officeDocument/2006/relationships/notesMaster" Target="/ppt/notesMasters/notesMaster1.xml" Id="R8cb945be935d4173" /><Relationship Type="http://schemas.openxmlformats.org/officeDocument/2006/relationships/presProps" Target="/ppt/presProps.xml" Id="Rf9be648702674d34" /><Relationship Type="http://schemas.openxmlformats.org/officeDocument/2006/relationships/tableStyles" Target="/ppt/tableStyles.xml" Id="Ra0774eaaf3f8424a" /><Relationship Type="http://schemas.openxmlformats.org/officeDocument/2006/relationships/slide" Target="/ppt/slides/slide1.xml" Id="R991901b2e5ec4dba" /><Relationship Type="http://schemas.openxmlformats.org/officeDocument/2006/relationships/slide" Target="/ppt/slides/slide2.xml" Id="Rbd9a1685d37f4567" /><Relationship Type="http://schemas.openxmlformats.org/officeDocument/2006/relationships/slide" Target="/ppt/slides/slide3.xml" Id="Rbb640ecbcde74d23" /><Relationship Type="http://schemas.openxmlformats.org/officeDocument/2006/relationships/slide" Target="/ppt/slides/slide4.xml" Id="R10cbe5515ed34c65" /><Relationship Type="http://schemas.openxmlformats.org/officeDocument/2006/relationships/slide" Target="/ppt/slides/slide5.xml" Id="Ra94e00c9a2b64f74" /><Relationship Type="http://schemas.openxmlformats.org/officeDocument/2006/relationships/slide" Target="/ppt/slides/slide6.xml" Id="R2e45587008cf48ee" /><Relationship Type="http://schemas.openxmlformats.org/officeDocument/2006/relationships/slide" Target="/ppt/slides/slide7.xml" Id="R2db2770b3adf4a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886aa25c13481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5699a95d9a4689" /><Relationship Type="http://schemas.openxmlformats.org/officeDocument/2006/relationships/notesMaster" Target="/ppt/notesMasters/notesMaster1.xml" Id="R6a7911ea462a4f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5c21a206c44bb3" /><Relationship Type="http://schemas.openxmlformats.org/officeDocument/2006/relationships/notesMaster" Target="/ppt/notesMasters/notesMaster1.xml" Id="Rc19915aa0b434c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0bf0a8036c4489" /><Relationship Type="http://schemas.openxmlformats.org/officeDocument/2006/relationships/notesMaster" Target="/ppt/notesMasters/notesMaster1.xml" Id="R7c95903270584d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4d80fde13d4505" /><Relationship Type="http://schemas.openxmlformats.org/officeDocument/2006/relationships/notesMaster" Target="/ppt/notesMasters/notesMaster1.xml" Id="R4c273385b0c74b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bd4b61ac514836" /><Relationship Type="http://schemas.openxmlformats.org/officeDocument/2006/relationships/notesMaster" Target="/ppt/notesMasters/notesMaster1.xml" Id="R30a0ab58a49846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d92b647ec9437a" /><Relationship Type="http://schemas.openxmlformats.org/officeDocument/2006/relationships/notesMaster" Target="/ppt/notesMasters/notesMaster1.xml" Id="R81071a36e82a46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2995f9e18743fd" /><Relationship Type="http://schemas.openxmlformats.org/officeDocument/2006/relationships/notesMaster" Target="/ppt/notesMasters/notesMaster1.xml" Id="R7b78df4e26434a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0:00–0:20</a:t>
            </a:r>
          </a:p>
          <a:p xmlns:a="http://schemas.openxmlformats.org/drawingml/2006/main">
            <a:r>
              <a:t/>
            </a:r>
          </a:p>
          <a:p xmlns:a="http://schemas.openxmlformats.org/drawingml/2006/main">
            <a:r>
              <a:t>Comprar una propiedad implica confiar en un precio, en documentos y en personas. Pero, ¿cómo comprobamos qué información sustentó la decisión y qué condiciones aceptamos antes de pagar? Traccia propone reunir esa evidencia en una experiencia inmobiliaria sobre Stellar.</a:t>
            </a:r>
          </a:p>
          <a:p xmlns:a="http://schemas.openxmlformats.org/drawingml/2006/main">
            <a:r>
              <a:t/>
            </a:r>
          </a:p>
          <a:p xmlns:a="http://schemas.openxmlformats.org/drawingml/2006/main">
            <a:r>
              <a:t>Imagen conceptual generada para esta presentación. No representa una propiedad real. Fuente del proyecto: https://github.com/nayelicz/Traxxia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0:20–0:45</a:t>
            </a:r>
          </a:p>
          <a:p xmlns:a="http://schemas.openxmlformats.org/drawingml/2006/main">
            <a:r>
              <a:t/>
            </a:r>
          </a:p>
          <a:p xmlns:a="http://schemas.openxmlformats.org/drawingml/2006/main">
            <a:r>
              <a:t>Pensemos en un fraccionamiento con varias casas en venta. El comprador recibe una ficha, una cotización y explicaciones que pueden cambiar durante la negociación. Nuestra oportunidad es conectar cada propiedad con un historial de valoración consultable, donde las fuentes y las reglas de la operación estén visibles desde el principio.</a:t>
            </a:r>
          </a:p>
          <a:p xmlns:a="http://schemas.openxmlformats.org/drawingml/2006/main">
            <a:r>
              <a:t/>
            </a:r>
          </a:p>
          <a:p xmlns:a="http://schemas.openxmlformats.org/drawingml/2006/main">
            <a:r>
              <a:t>Fuente de estado del MVP: https://github.com/nayelicz/Traxxia/blob/main/README.md</a:t>
            </a:r>
          </a:p>
          <a:p xmlns:a="http://schemas.openxmlformats.org/drawingml/2006/main">
            <a:r>
              <a:t>Fuentes técnicas: https://developers.stellar.org/docs/build/smart-contracts/overview ; https://developers.stellar.org/docs/learn/fundamentals/contract-development/authorization ; https://developers.stellar.org/docs/build/guides/freighter ; https://ai.google.dev/gemini-api/docs/generate-content/google-search</a:t>
            </a:r>
          </a:p>
          <a:p xmlns:a="http://schemas.openxmlformats.org/drawingml/2006/main">
            <a:r>
              <a:t>Las propiedades son ficticias. El contrato no cuenta todavía con verificación de una transacción en 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0:45–1:15</a:t>
            </a:r>
          </a:p>
          <a:p xmlns:a="http://schemas.openxmlformats.org/drawingml/2006/main">
            <a:r>
              <a:t/>
            </a:r>
          </a:p>
          <a:p xmlns:a="http://schemas.openxmlformats.org/drawingml/2006/main">
            <a:r>
              <a:t>Cada inmueble tiene una identidad digital con superficie, precio de referencia y estado. Gemini puede analizar información disponible y devolver una valoración acompañada de fuentes. El sistema calcula una huella digital del resultado, llamada hash. Nuestra propuesta es registrar esa huella en Stellar para comprobar si alguien modificó posteriormente el análisis. La confianza depende de la calidad de los datos y del oráculo que los publica.</a:t>
            </a:r>
          </a:p>
          <a:p xmlns:a="http://schemas.openxmlformats.org/drawingml/2006/main">
            <a:r>
              <a:t/>
            </a:r>
          </a:p>
          <a:p xmlns:a="http://schemas.openxmlformats.org/drawingml/2006/main">
            <a:r>
              <a:t>Fuente de estado del MVP: https://github.com/nayelicz/Traxxia/blob/main/README.md</a:t>
            </a:r>
          </a:p>
          <a:p xmlns:a="http://schemas.openxmlformats.org/drawingml/2006/main">
            <a:r>
              <a:t>Fuentes técnicas: https://developers.stellar.org/docs/build/smart-contracts/overview ; https://developers.stellar.org/docs/learn/fundamentals/contract-development/authorization ; https://developers.stellar.org/docs/build/guides/freighter ; https://ai.google.dev/gemini-api/docs/generate-content/google-search</a:t>
            </a:r>
          </a:p>
          <a:p xmlns:a="http://schemas.openxmlformats.org/drawingml/2006/main">
            <a:r>
              <a:t>Las propiedades son ficticias. El contrato no cuenta todavía con verificación de una transacción en 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1:15–1:45</a:t>
            </a:r>
          </a:p>
          <a:p xmlns:a="http://schemas.openxmlformats.org/drawingml/2006/main">
            <a:r>
              <a:t/>
            </a:r>
          </a:p>
          <a:p xmlns:a="http://schemas.openxmlformats.org/drawingml/2006/main">
            <a:r>
              <a:t>En el prototipo, el usuario explora cinco propiedades ficticias sobre un plano y selecciona una casa. Revisa sus características y solicita el análisis. Después conecta Freighter y puede firmar una reserva cuando el contrato esté configurado en Testnet. El objetivo es que el comprador comprenda el inmueble y la evidencia disponible antes de autorizar cualquier operación.</a:t>
            </a:r>
          </a:p>
          <a:p xmlns:a="http://schemas.openxmlformats.org/drawingml/2006/main">
            <a:r>
              <a:t/>
            </a:r>
          </a:p>
          <a:p xmlns:a="http://schemas.openxmlformats.org/drawingml/2006/main">
            <a:r>
              <a:t>Fuente de estado del MVP: https://github.com/nayelicz/Traxxia/blob/main/README.md</a:t>
            </a:r>
          </a:p>
          <a:p xmlns:a="http://schemas.openxmlformats.org/drawingml/2006/main">
            <a:r>
              <a:t>Fuentes técnicas: https://developers.stellar.org/docs/build/smart-contracts/overview ; https://developers.stellar.org/docs/learn/fundamentals/contract-development/authorization ; https://developers.stellar.org/docs/build/guides/freighter ; https://ai.google.dev/gemini-api/docs/generate-content/google-search</a:t>
            </a:r>
          </a:p>
          <a:p xmlns:a="http://schemas.openxmlformats.org/drawingml/2006/main">
            <a:r>
              <a:t>Las propiedades son ficticias. El contrato no cuenta todavía con verificación de una transacción en 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1:45–2:15</a:t>
            </a:r>
          </a:p>
          <a:p xmlns:a="http://schemas.openxmlformats.org/drawingml/2006/main">
            <a:r>
              <a:t/>
            </a:r>
          </a:p>
          <a:p xmlns:a="http://schemas.openxmlformats.org/drawingml/2006/main">
            <a:r>
              <a:t>Las responsabilidades son claras. Gemini analiza. Una cuenta autorizada publica el resultado como oráculo. Soroban verifica las reglas, y Freighter permite al usuario firmar. El código de compra exige una valoración reciente y umbrales definidos de puntuación y confianza. Cuando se cumplen, contempla el pago con un token de prueba y el cambio de dueño del registro digital. Esto requiere validación en Testnet.</a:t>
            </a:r>
          </a:p>
          <a:p xmlns:a="http://schemas.openxmlformats.org/drawingml/2006/main">
            <a:r>
              <a:t/>
            </a:r>
          </a:p>
          <a:p xmlns:a="http://schemas.openxmlformats.org/drawingml/2006/main">
            <a:r>
              <a:t>Fuente de estado del MVP: https://github.com/nayelicz/Traxxia/blob/main/README.md</a:t>
            </a:r>
          </a:p>
          <a:p xmlns:a="http://schemas.openxmlformats.org/drawingml/2006/main">
            <a:r>
              <a:t>Fuentes técnicas: https://developers.stellar.org/docs/build/smart-contracts/overview ; https://developers.stellar.org/docs/learn/fundamentals/contract-development/authorization ; https://developers.stellar.org/docs/build/guides/freighter ; https://ai.google.dev/gemini-api/docs/generate-content/google-search</a:t>
            </a:r>
          </a:p>
          <a:p xmlns:a="http://schemas.openxmlformats.org/drawingml/2006/main">
            <a:r>
              <a:t>Las propiedades son ficticias. El contrato no cuenta todavía con verificación de una transacción en 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2:15–2:40</a:t>
            </a:r>
          </a:p>
          <a:p xmlns:a="http://schemas.openxmlformats.org/drawingml/2006/main">
            <a:r>
              <a:t/>
            </a:r>
          </a:p>
          <a:p xmlns:a="http://schemas.openxmlformats.org/drawingml/2006/main">
            <a:r>
              <a:t>Hoy tenemos la interfaz compilada, una API con análisis ilustrativo y conexión opcional a Gemini, y el código del contrato en GitHub. Todavía falta verificar y desplegar el contrato, automatizar la publicación del oráculo y completar la compra desde la interfaz. El registro digital tampoco sustituye los documentos ni los procesos necesarios para transmitir una propiedad legalmente.</a:t>
            </a:r>
          </a:p>
          <a:p xmlns:a="http://schemas.openxmlformats.org/drawingml/2006/main">
            <a:r>
              <a:t/>
            </a:r>
          </a:p>
          <a:p xmlns:a="http://schemas.openxmlformats.org/drawingml/2006/main">
            <a:r>
              <a:t>Fuente de estado del MVP: https://github.com/nayelicz/Traxxia/blob/main/README.md</a:t>
            </a:r>
          </a:p>
          <a:p xmlns:a="http://schemas.openxmlformats.org/drawingml/2006/main">
            <a:r>
              <a:t>Fuentes técnicas: https://developers.stellar.org/docs/build/smart-contracts/overview ; https://developers.stellar.org/docs/learn/fundamentals/contract-development/authorization ; https://developers.stellar.org/docs/build/guides/freighter ; https://ai.google.dev/gemini-api/docs/generate-content/google-search</a:t>
            </a:r>
          </a:p>
          <a:p xmlns:a="http://schemas.openxmlformats.org/drawingml/2006/main">
            <a:r>
              <a:t>Las propiedades son ficticias. El contrato no cuenta todavía con verificación de una transacción en 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2:40–3:00</a:t>
            </a:r>
          </a:p>
          <a:p xmlns:a="http://schemas.openxmlformats.org/drawingml/2006/main">
            <a:r>
              <a:t/>
            </a:r>
          </a:p>
          <a:p xmlns:a="http://schemas.openxmlformats.org/drawingml/2006/main">
            <a:r>
              <a:t>Proponemos comenzar con desarrolladores de fraccionamientos y probar un modelo de suscripción, con cobro por operaciones como hipótesis. Nuestro siguiente paso es un piloto completo en Testnet con fuentes verificables. Traccia busca que cada propiedad tenga una historia que el comprador pueda revisar antes de decidir.</a:t>
            </a:r>
          </a:p>
          <a:p xmlns:a="http://schemas.openxmlformats.org/drawingml/2006/main">
            <a:r>
              <a:t/>
            </a:r>
          </a:p>
          <a:p xmlns:a="http://schemas.openxmlformats.org/drawingml/2006/main">
            <a:r>
              <a:t>Fuente de estado del MVP: https://github.com/nayelicz/Traxxia/blob/main/README.md</a:t>
            </a:r>
          </a:p>
          <a:p xmlns:a="http://schemas.openxmlformats.org/drawingml/2006/main">
            <a:r>
              <a:t>Fuentes técnicas: https://developers.stellar.org/docs/build/smart-contracts/overview ; https://developers.stellar.org/docs/learn/fundamentals/contract-development/authorization ; https://developers.stellar.org/docs/build/guides/freighter ; https://ai.google.dev/gemini-api/docs/generate-content/google-search</a:t>
            </a:r>
          </a:p>
          <a:p xmlns:a="http://schemas.openxmlformats.org/drawingml/2006/main">
            <a:r>
              <a:t>Las propiedades son ficticias. El contrato no cuenta todavía con verificación de una transacción en 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45fbc492db49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58802bdf4746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7f0bad489d43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0db527331f41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68481c1fff4a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9a36fac6274d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1AB4D12-665C-485B-8BE8-C391DF697FB9}"/>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BE84ADD-66A1-4E81-9FBC-85295FDC5D6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BCABC148-3F41-41C1-BB80-428FDFD0326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BBC39B-26EE-4BFA-A667-3F9ABF781E3F}"/>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53C6452-057C-4794-9EF5-CE61D8587D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28893D7-6693-4AF6-8994-D482A9A9D60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A65CD14-98CB-41AA-86C5-2813AF74D0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48474733-9B60-4C5A-AA90-2275FE83022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2298BAD2-3D76-464E-BE63-ED8D173D00AF}"/>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14111CF-2C37-48D3-BDBC-AA65BEBDC0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A6C78BB-8870-48E3-B9AE-052015ADCA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5C26AE9-1102-4D83-852E-3FBB1F4E361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67BFD35-11C3-4881-A5A7-497EDC21B37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6CE5A88-C741-40FB-8D2C-0845E0D6D0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DB6895E-2BAA-415A-95E5-455F248803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dec3b7be554ef7" /><Relationship Type="http://schemas.openxmlformats.org/officeDocument/2006/relationships/slideLayout" Target="/ppt/slideLayouts/slideLayout1.xml" Id="R0526f889a3074029" /><Relationship Type="http://schemas.openxmlformats.org/officeDocument/2006/relationships/slideLayout" Target="/ppt/slideLayouts/slideLayout2.xml" Id="R0e92482f68044fe0" /><Relationship Type="http://schemas.openxmlformats.org/officeDocument/2006/relationships/slideLayout" Target="/ppt/slideLayouts/slideLayout3.xml" Id="R6a5401e164b64397" /><Relationship Type="http://schemas.openxmlformats.org/officeDocument/2006/relationships/slideLayout" Target="/ppt/slideLayouts/slideLayout4.xml" Id="Raff022b09cc34143" /><Relationship Type="http://schemas.openxmlformats.org/officeDocument/2006/relationships/slideLayout" Target="/ppt/slideLayouts/slideLayout5.xml" Id="Rece905e620134a44" /><Relationship Type="http://schemas.openxmlformats.org/officeDocument/2006/relationships/slideLayout" Target="/ppt/slideLayouts/slideLayout6.xml" Id="R2ae90e284fcc43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26f889a3074029"/>
    <p:sldLayoutId xmlns:r="http://schemas.openxmlformats.org/officeDocument/2006/relationships" id="2147483650" r:id="R0e92482f68044fe0"/>
    <p:sldLayoutId xmlns:r="http://schemas.openxmlformats.org/officeDocument/2006/relationships" id="2147483651" r:id="R6a5401e164b64397"/>
    <p:sldLayoutId xmlns:r="http://schemas.openxmlformats.org/officeDocument/2006/relationships" id="2147483652" r:id="Raff022b09cc34143"/>
    <p:sldLayoutId xmlns:r="http://schemas.openxmlformats.org/officeDocument/2006/relationships" id="2147483653" r:id="Rece905e620134a44"/>
    <p:sldLayoutId xmlns:r="http://schemas.openxmlformats.org/officeDocument/2006/relationships" id="2147483654" r:id="R2ae90e284fcc43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56c593dd884c1f" /><Relationship Type="http://schemas.openxmlformats.org/officeDocument/2006/relationships/image" Target="/ppt/media/image.jpeg" Id="R5a84da0632724840" /><Relationship Type="http://schemas.openxmlformats.org/officeDocument/2006/relationships/notesSlide" Target="/ppt/notesSlides/notesSlide1.xml" Id="Rb38ea27a40ee48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739cece3234e25" /><Relationship Type="http://schemas.openxmlformats.org/officeDocument/2006/relationships/notesSlide" Target="/ppt/notesSlides/notesSlide2.xml" Id="R2e2265136b624b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7ce733fd543492f" /><Relationship Type="http://schemas.openxmlformats.org/officeDocument/2006/relationships/notesSlide" Target="/ppt/notesSlides/notesSlide3.xml" Id="R2380ddff23df4f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ba4fbf0dd5424b" /><Relationship Type="http://schemas.openxmlformats.org/officeDocument/2006/relationships/notesSlide" Target="/ppt/notesSlides/notesSlide4.xml" Id="R30d1aeb592114d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1ec87f7fd534dd5" /><Relationship Type="http://schemas.openxmlformats.org/officeDocument/2006/relationships/notesSlide" Target="/ppt/notesSlides/notesSlide5.xml" Id="R7930af8de59642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c7402a842048a8" /><Relationship Type="http://schemas.openxmlformats.org/officeDocument/2006/relationships/notesSlide" Target="/ppt/notesSlides/notesSlide6.xml" Id="R86493b2d3d4c43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d57701adf0f417e" /><Relationship Type="http://schemas.openxmlformats.org/officeDocument/2006/relationships/notesSlide" Target="/ppt/notesSlides/notesSlide7.xml" Id="R5555ddf9317c4e95" /></Relationships>
</file>

<file path=ppt/slides/slide1.xml><?xml version="1.0" encoding="utf-8"?>
<p:sld xmlns:p="http://schemas.openxmlformats.org/presentationml/2006/main">
  <p:cSld>
    <p:bg>
      <p:bgPr>
        <a:solidFill xmlns:a="http://schemas.openxmlformats.org/drawingml/2006/main">
          <a:srgbClr val="122B2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578A79-B76B-49D2-A7F0-923871FF964A}"/>
              </a:ext>
            </a:extLst>
          </p:cNvPr>
          <p:cNvSpPr>
            <a:spLocks xmlns:a="http://schemas.openxmlformats.org/drawingml/2006/main" noGrp="1"/>
          </p:cNvSpPr>
          <p:nvPr/>
        </p:nvSpPr>
        <p:spPr>
          <a:xfrm xmlns:a="http://schemas.openxmlformats.org/drawingml/2006/main">
            <a:off x="10858500" y="62865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C6BC"/>
                </a:solidFill>
                <a:latin typeface="Arial"/>
                <a:ea typeface="Arial"/>
                <a:cs typeface="Arial"/>
              </a:defRPr>
            </a:pPr>
            <a:r>
              <a:rPr sz="1200" b="0">
                <a:solidFill>
                  <a:srgbClr val="A9C6BC"/>
                </a:solidFill>
                <a:latin typeface="Arial"/>
                <a:ea typeface="Arial"/>
                <a:cs typeface="Arial"/>
              </a:rPr>
              <a:t>01 / 07</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a84da0632724840"/>
          <a:srcRect xmlns:a="http://schemas.openxmlformats.org/drawingml/2006/main" l="25586" t="0" r="25586" b="0"/>
          <a:stretch xmlns:a="http://schemas.openxmlformats.org/drawingml/2006/main">
            <a:fillRect l="0" t="0" r="0" b="0"/>
          </a:stretch>
        </p:blipFill>
        <p:spPr>
          <a:xfrm xmlns:a="http://schemas.openxmlformats.org/drawingml/2006/main">
            <a:off x="6238875" y="0"/>
            <a:ext cx="5953125"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B602804-9D84-460A-A3E3-5E5AED740F84}"/>
              </a:ext>
            </a:extLst>
          </p:cNvPr>
          <p:cNvSpPr>
            <a:spLocks xmlns:a="http://schemas.openxmlformats.org/drawingml/2006/main" noGrp="1"/>
          </p:cNvSpPr>
          <p:nvPr/>
        </p:nvSpPr>
        <p:spPr>
          <a:xfrm xmlns:a="http://schemas.openxmlformats.org/drawingml/2006/main">
            <a:off x="685800" y="1485900"/>
            <a:ext cx="5810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0" b="1">
                <a:solidFill>
                  <a:srgbClr val="F6F8F4"/>
                </a:solidFill>
                <a:latin typeface="Arial"/>
                <a:ea typeface="Arial"/>
                <a:cs typeface="Arial"/>
              </a:defRPr>
            </a:pPr>
            <a:r>
              <a:rPr sz="8250" b="1">
                <a:solidFill>
                  <a:srgbClr val="F6F8F4"/>
                </a:solidFill>
                <a:latin typeface="Arial"/>
                <a:ea typeface="Arial"/>
                <a:cs typeface="Arial"/>
              </a:rPr>
              <a:t>Traccia</a:t>
            </a:r>
          </a:p>
        </p:txBody>
      </p:sp>
      <p:sp>
        <p:nvSpPr>
          <p:cNvPr id="4" name="">
            <a:extLst xmlns:a="http://schemas.openxmlformats.org/drawingml/2006/main">
              <a:ext uri="{FF2B5EF4-FFF2-40B4-BE49-F238E27FC236}">
                <a16:creationId xmlns:a16="http://schemas.microsoft.com/office/drawing/2014/main" id="{CE38DD0D-407D-4972-BC4F-A03F9601D05F}"/>
              </a:ext>
            </a:extLst>
          </p:cNvPr>
          <p:cNvSpPr>
            <a:spLocks xmlns:a="http://schemas.openxmlformats.org/drawingml/2006/main" noGrp="1"/>
          </p:cNvSpPr>
          <p:nvPr/>
        </p:nvSpPr>
        <p:spPr>
          <a:xfrm xmlns:a="http://schemas.openxmlformats.org/drawingml/2006/main">
            <a:off x="723900" y="2990850"/>
            <a:ext cx="5286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C7F2CA"/>
                </a:solidFill>
                <a:latin typeface="Arial"/>
                <a:ea typeface="Arial"/>
                <a:cs typeface="Arial"/>
              </a:defRPr>
            </a:pPr>
            <a:r>
              <a:rPr sz="3150" b="1">
                <a:solidFill>
                  <a:srgbClr val="C7F2CA"/>
                </a:solidFill>
                <a:latin typeface="Arial"/>
                <a:ea typeface="Arial"/>
                <a:cs typeface="Arial"/>
              </a:rPr>
              <a:t>Cada propiedad tiene una</a:t>
            </a:r>
          </a:p>
          <a:p xmlns:a="http://schemas.openxmlformats.org/drawingml/2006/main">
            <a:pPr>
              <a:defRPr sz="3150" b="1">
                <a:solidFill>
                  <a:srgbClr val="C7F2CA"/>
                </a:solidFill>
                <a:latin typeface="Arial"/>
                <a:ea typeface="Arial"/>
                <a:cs typeface="Arial"/>
              </a:defRPr>
            </a:pPr>
            <a:r>
              <a:rPr sz="3150" b="1">
                <a:solidFill>
                  <a:srgbClr val="C7F2CA"/>
                </a:solidFill>
                <a:latin typeface="Arial"/>
                <a:ea typeface="Arial"/>
                <a:cs typeface="Arial"/>
              </a:rPr>
              <a:t>historia verificable</a:t>
            </a:r>
          </a:p>
        </p:txBody>
      </p:sp>
      <p:sp>
        <p:nvSpPr>
          <p:cNvPr id="5" name="">
            <a:extLst xmlns:a="http://schemas.openxmlformats.org/drawingml/2006/main">
              <a:ext uri="{FF2B5EF4-FFF2-40B4-BE49-F238E27FC236}">
                <a16:creationId xmlns:a16="http://schemas.microsoft.com/office/drawing/2014/main" id="{BCC01604-8FB6-48D0-85C3-AE7DE4720D5C}"/>
              </a:ext>
            </a:extLst>
          </p:cNvPr>
          <p:cNvSpPr>
            <a:spLocks xmlns:a="http://schemas.openxmlformats.org/drawingml/2006/main" noGrp="1"/>
          </p:cNvSpPr>
          <p:nvPr/>
        </p:nvSpPr>
        <p:spPr>
          <a:xfrm xmlns:a="http://schemas.openxmlformats.org/drawingml/2006/main">
            <a:off x="723900" y="4772025"/>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9C6BC"/>
                </a:solidFill>
                <a:latin typeface="Arial"/>
                <a:ea typeface="Arial"/>
                <a:cs typeface="Arial"/>
              </a:defRPr>
            </a:pPr>
            <a:r>
              <a:rPr sz="1950" b="0">
                <a:solidFill>
                  <a:srgbClr val="A9C6BC"/>
                </a:solidFill>
                <a:latin typeface="Arial"/>
                <a:ea typeface="Arial"/>
                <a:cs typeface="Arial"/>
              </a:rPr>
              <a:t>Tokenización inmobiliaria sobre Stellar</a:t>
            </a:r>
          </a:p>
        </p:txBody>
      </p:sp>
      <p:sp>
        <p:nvSpPr>
          <p:cNvPr id="6" name="">
            <a:extLst xmlns:a="http://schemas.openxmlformats.org/drawingml/2006/main">
              <a:ext uri="{FF2B5EF4-FFF2-40B4-BE49-F238E27FC236}">
                <a16:creationId xmlns:a16="http://schemas.microsoft.com/office/drawing/2014/main" id="{DFD64724-5AFF-4649-B7B8-212222C82A4B}"/>
              </a:ext>
            </a:extLst>
          </p:cNvPr>
          <p:cNvSpPr>
            <a:spLocks xmlns:a="http://schemas.openxmlformats.org/drawingml/2006/main" noGrp="1"/>
          </p:cNvSpPr>
          <p:nvPr/>
        </p:nvSpPr>
        <p:spPr>
          <a:xfrm xmlns:a="http://schemas.openxmlformats.org/drawingml/2006/main">
            <a:off x="723900" y="59055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6F8F4"/>
                </a:solidFill>
                <a:latin typeface="Arial"/>
                <a:ea typeface="Arial"/>
                <a:cs typeface="Arial"/>
              </a:defRPr>
            </a:pPr>
            <a:r>
              <a:rPr sz="1725" b="0">
                <a:solidFill>
                  <a:srgbClr val="F6F8F4"/>
                </a:solidFill>
                <a:latin typeface="Arial"/>
                <a:ea typeface="Arial"/>
                <a:cs typeface="Arial"/>
              </a:rPr>
              <a:t>Hackatón Stellar BAF</a:t>
            </a:r>
          </a:p>
        </p:txBody>
      </p:sp>
    </p:spTree>
    <p:extLst>
      <p:ext uri="{BB962C8B-B14F-4D97-AF65-F5344CB8AC3E}">
        <p14:creationId xmlns:p14="http://schemas.microsoft.com/office/powerpoint/2010/main" val="2046449404"/>
      </p:ext>
    </p:extLst>
  </p:cSld>
</p:sld>
</file>

<file path=ppt/slides/slide2.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FFA551-112D-4105-BA9C-9527E1CEEEC1}"/>
              </a:ext>
            </a:extLst>
          </p:cNvPr>
          <p:cNvSpPr>
            <a:spLocks xmlns:a="http://schemas.openxmlformats.org/drawingml/2006/main" noGrp="1"/>
          </p:cNvSpPr>
          <p:nvPr/>
        </p:nvSpPr>
        <p:spPr>
          <a:xfrm xmlns:a="http://schemas.openxmlformats.org/drawingml/2006/main">
            <a:off x="10858500" y="62865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5766D"/>
                </a:solidFill>
                <a:latin typeface="Arial"/>
                <a:ea typeface="Arial"/>
                <a:cs typeface="Arial"/>
              </a:defRPr>
            </a:pPr>
            <a:r>
              <a:rPr sz="1200" b="0">
                <a:solidFill>
                  <a:srgbClr val="55766D"/>
                </a:solidFill>
                <a:latin typeface="Arial"/>
                <a:ea typeface="Arial"/>
                <a:cs typeface="Arial"/>
              </a:rPr>
              <a:t>02 / 07</a:t>
            </a:r>
          </a:p>
        </p:txBody>
      </p:sp>
      <p:sp>
        <p:nvSpPr>
          <p:cNvPr id="2" name="">
            <a:extLst xmlns:a="http://schemas.openxmlformats.org/drawingml/2006/main">
              <a:ext uri="{FF2B5EF4-FFF2-40B4-BE49-F238E27FC236}">
                <a16:creationId xmlns:a16="http://schemas.microsoft.com/office/drawing/2014/main" id="{C534BABD-DA90-4CCD-BE81-8E8B5B1C1101}"/>
              </a:ext>
            </a:extLst>
          </p:cNvPr>
          <p:cNvSpPr>
            <a:spLocks xmlns:a="http://schemas.openxmlformats.org/drawingml/2006/main" noGrp="1"/>
          </p:cNvSpPr>
          <p:nvPr/>
        </p:nvSpPr>
        <p:spPr>
          <a:xfrm xmlns:a="http://schemas.openxmlformats.org/drawingml/2006/main">
            <a:off x="685800" y="619125"/>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73D3B"/>
                </a:solidFill>
                <a:latin typeface="Arial"/>
                <a:ea typeface="Arial"/>
                <a:cs typeface="Arial"/>
              </a:defRPr>
            </a:pPr>
            <a:r>
              <a:rPr sz="3675" b="1">
                <a:solidFill>
                  <a:srgbClr val="173D3B"/>
                </a:solidFill>
                <a:latin typeface="Arial"/>
                <a:ea typeface="Arial"/>
                <a:cs typeface="Arial"/>
              </a:rPr>
              <a:t>La evidencia detrás de una compra</a:t>
            </a:r>
          </a:p>
        </p:txBody>
      </p:sp>
      <p:sp>
        <p:nvSpPr>
          <p:cNvPr id="3" name="">
            <a:extLst xmlns:a="http://schemas.openxmlformats.org/drawingml/2006/main">
              <a:ext uri="{FF2B5EF4-FFF2-40B4-BE49-F238E27FC236}">
                <a16:creationId xmlns:a16="http://schemas.microsoft.com/office/drawing/2014/main" id="{74015585-3B82-4DA7-A3D5-918314EC242C}"/>
              </a:ext>
            </a:extLst>
          </p:cNvPr>
          <p:cNvSpPr>
            <a:spLocks xmlns:a="http://schemas.openxmlformats.org/drawingml/2006/main" noGrp="1"/>
          </p:cNvSpPr>
          <p:nvPr/>
        </p:nvSpPr>
        <p:spPr>
          <a:xfrm xmlns:a="http://schemas.openxmlformats.org/drawingml/2006/main">
            <a:off x="685800" y="1924050"/>
            <a:ext cx="490537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3D3B"/>
                </a:solidFill>
                <a:latin typeface="Arial"/>
                <a:ea typeface="Arial"/>
                <a:cs typeface="Arial"/>
              </a:defRPr>
            </a:pPr>
            <a:r>
              <a:rPr sz="4350" b="1">
                <a:solidFill>
                  <a:srgbClr val="173D3B"/>
                </a:solidFill>
                <a:latin typeface="Arial"/>
                <a:ea typeface="Arial"/>
                <a:cs typeface="Arial"/>
              </a:rPr>
              <a:t>¿De dónde</a:t>
            </a:r>
          </a:p>
          <a:p xmlns:a="http://schemas.openxmlformats.org/drawingml/2006/main">
            <a:pPr>
              <a:defRPr sz="4350" b="1">
                <a:solidFill>
                  <a:srgbClr val="173D3B"/>
                </a:solidFill>
                <a:latin typeface="Arial"/>
                <a:ea typeface="Arial"/>
                <a:cs typeface="Arial"/>
              </a:defRPr>
            </a:pPr>
            <a:r>
              <a:rPr sz="4350" b="1">
                <a:solidFill>
                  <a:srgbClr val="173D3B"/>
                </a:solidFill>
                <a:latin typeface="Arial"/>
                <a:ea typeface="Arial"/>
                <a:cs typeface="Arial"/>
              </a:rPr>
              <a:t>sale el precio?</a:t>
            </a:r>
          </a:p>
        </p:txBody>
      </p:sp>
      <p:sp>
        <p:nvSpPr>
          <p:cNvPr id="4" name="">
            <a:extLst xmlns:a="http://schemas.openxmlformats.org/drawingml/2006/main">
              <a:ext uri="{FF2B5EF4-FFF2-40B4-BE49-F238E27FC236}">
                <a16:creationId xmlns:a16="http://schemas.microsoft.com/office/drawing/2014/main" id="{5A0BED5C-4DE3-4738-9747-AEF557DA37FA}"/>
              </a:ext>
            </a:extLst>
          </p:cNvPr>
          <p:cNvSpPr>
            <a:spLocks xmlns:a="http://schemas.openxmlformats.org/drawingml/2006/main" noGrp="1"/>
          </p:cNvSpPr>
          <p:nvPr/>
        </p:nvSpPr>
        <p:spPr>
          <a:xfrm xmlns:a="http://schemas.openxmlformats.org/drawingml/2006/main">
            <a:off x="6343650" y="1924050"/>
            <a:ext cx="5143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73D3B"/>
                </a:solidFill>
                <a:latin typeface="Arial"/>
                <a:ea typeface="Arial"/>
                <a:cs typeface="Arial"/>
              </a:defRPr>
            </a:pPr>
            <a:r>
              <a:rPr sz="4050" b="1">
                <a:solidFill>
                  <a:srgbClr val="173D3B"/>
                </a:solidFill>
                <a:latin typeface="Arial"/>
                <a:ea typeface="Arial"/>
                <a:cs typeface="Arial"/>
              </a:rPr>
              <a:t>¿Qué condiciones</a:t>
            </a:r>
          </a:p>
          <a:p xmlns:a="http://schemas.openxmlformats.org/drawingml/2006/main">
            <a:pPr>
              <a:defRPr sz="4050" b="1">
                <a:solidFill>
                  <a:srgbClr val="173D3B"/>
                </a:solidFill>
                <a:latin typeface="Arial"/>
                <a:ea typeface="Arial"/>
                <a:cs typeface="Arial"/>
              </a:defRPr>
            </a:pPr>
            <a:r>
              <a:rPr sz="4050" b="1">
                <a:solidFill>
                  <a:srgbClr val="173D3B"/>
                </a:solidFill>
                <a:latin typeface="Arial"/>
                <a:ea typeface="Arial"/>
                <a:cs typeface="Arial"/>
              </a:rPr>
              <a:t>acepté al pagar?</a:t>
            </a:r>
          </a:p>
        </p:txBody>
      </p:sp>
      <p:sp>
        <p:nvSpPr>
          <p:cNvPr id="5" name="">
            <a:extLst xmlns:a="http://schemas.openxmlformats.org/drawingml/2006/main">
              <a:ext uri="{FF2B5EF4-FFF2-40B4-BE49-F238E27FC236}">
                <a16:creationId xmlns:a16="http://schemas.microsoft.com/office/drawing/2014/main" id="{86B0A649-DC04-47EF-885B-2DC38E8BA37F}"/>
              </a:ext>
            </a:extLst>
          </p:cNvPr>
          <p:cNvSpPr>
            <a:spLocks xmlns:a="http://schemas.openxmlformats.org/drawingml/2006/main" noGrp="1"/>
          </p:cNvSpPr>
          <p:nvPr/>
        </p:nvSpPr>
        <p:spPr>
          <a:xfrm xmlns:a="http://schemas.openxmlformats.org/drawingml/2006/main">
            <a:off x="723900" y="3905250"/>
            <a:ext cx="4810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5766D"/>
                </a:solidFill>
                <a:latin typeface="Arial"/>
                <a:ea typeface="Arial"/>
                <a:cs typeface="Arial"/>
              </a:defRPr>
            </a:pPr>
            <a:r>
              <a:rPr sz="2175" b="0">
                <a:solidFill>
                  <a:srgbClr val="55766D"/>
                </a:solidFill>
                <a:latin typeface="Arial"/>
                <a:ea typeface="Arial"/>
                <a:cs typeface="Arial"/>
              </a:rPr>
              <a:t>Las fuentes y las versiones de una</a:t>
            </a:r>
          </a:p>
          <a:p xmlns:a="http://schemas.openxmlformats.org/drawingml/2006/main">
            <a:pPr>
              <a:defRPr sz="2175" b="0">
                <a:solidFill>
                  <a:srgbClr val="55766D"/>
                </a:solidFill>
                <a:latin typeface="Arial"/>
                <a:ea typeface="Arial"/>
                <a:cs typeface="Arial"/>
              </a:defRPr>
            </a:pPr>
            <a:r>
              <a:rPr sz="2175" b="0">
                <a:solidFill>
                  <a:srgbClr val="55766D"/>
                </a:solidFill>
                <a:latin typeface="Arial"/>
                <a:ea typeface="Arial"/>
                <a:cs typeface="Arial"/>
              </a:rPr>
              <a:t>valoración pueden quedar dispersas.</a:t>
            </a:r>
          </a:p>
        </p:txBody>
      </p:sp>
      <p:sp>
        <p:nvSpPr>
          <p:cNvPr id="6" name="">
            <a:extLst xmlns:a="http://schemas.openxmlformats.org/drawingml/2006/main">
              <a:ext uri="{FF2B5EF4-FFF2-40B4-BE49-F238E27FC236}">
                <a16:creationId xmlns:a16="http://schemas.microsoft.com/office/drawing/2014/main" id="{B3E21A6B-FC68-4BC9-B543-1EC0DCD26C7E}"/>
              </a:ext>
            </a:extLst>
          </p:cNvPr>
          <p:cNvSpPr>
            <a:spLocks xmlns:a="http://schemas.openxmlformats.org/drawingml/2006/main" noGrp="1"/>
          </p:cNvSpPr>
          <p:nvPr/>
        </p:nvSpPr>
        <p:spPr>
          <a:xfrm xmlns:a="http://schemas.openxmlformats.org/drawingml/2006/main">
            <a:off x="6381750" y="3905250"/>
            <a:ext cx="49149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5766D"/>
                </a:solidFill>
                <a:latin typeface="Arial"/>
                <a:ea typeface="Arial"/>
                <a:cs typeface="Arial"/>
              </a:defRPr>
            </a:pPr>
            <a:r>
              <a:rPr sz="2175" b="0">
                <a:solidFill>
                  <a:srgbClr val="55766D"/>
                </a:solidFill>
                <a:latin typeface="Arial"/>
                <a:ea typeface="Arial"/>
                <a:cs typeface="Arial"/>
              </a:rPr>
              <a:t>El comprador necesita revisar las</a:t>
            </a:r>
          </a:p>
          <a:p xmlns:a="http://schemas.openxmlformats.org/drawingml/2006/main">
            <a:pPr>
              <a:defRPr sz="2175" b="0">
                <a:solidFill>
                  <a:srgbClr val="55766D"/>
                </a:solidFill>
                <a:latin typeface="Arial"/>
                <a:ea typeface="Arial"/>
                <a:cs typeface="Arial"/>
              </a:defRPr>
            </a:pPr>
            <a:r>
              <a:rPr sz="2175" b="0">
                <a:solidFill>
                  <a:srgbClr val="55766D"/>
                </a:solidFill>
                <a:latin typeface="Arial"/>
                <a:ea typeface="Arial"/>
                <a:cs typeface="Arial"/>
              </a:rPr>
              <a:t>reglas antes de autorizar la operación.</a:t>
            </a:r>
          </a:p>
        </p:txBody>
      </p:sp>
      <p:sp>
        <p:nvSpPr>
          <p:cNvPr id="7" name="">
            <a:extLst xmlns:a="http://schemas.openxmlformats.org/drawingml/2006/main">
              <a:ext uri="{FF2B5EF4-FFF2-40B4-BE49-F238E27FC236}">
                <a16:creationId xmlns:a16="http://schemas.microsoft.com/office/drawing/2014/main" id="{EB819890-E864-45AB-BBC3-9B99F4838073}"/>
              </a:ext>
            </a:extLst>
          </p:cNvPr>
          <p:cNvSpPr>
            <a:spLocks xmlns:a="http://schemas.openxmlformats.org/drawingml/2006/main" noGrp="1"/>
          </p:cNvSpPr>
          <p:nvPr/>
        </p:nvSpPr>
        <p:spPr>
          <a:xfrm xmlns:a="http://schemas.openxmlformats.org/drawingml/2006/main">
            <a:off x="723900" y="5629275"/>
            <a:ext cx="1009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766D"/>
                </a:solidFill>
                <a:latin typeface="Arial"/>
                <a:ea typeface="Arial"/>
                <a:cs typeface="Arial"/>
              </a:defRPr>
            </a:pPr>
            <a:r>
              <a:rPr sz="1800" b="0">
                <a:solidFill>
                  <a:srgbClr val="55766D"/>
                </a:solidFill>
                <a:latin typeface="Arial"/>
                <a:ea typeface="Arial"/>
                <a:cs typeface="Arial"/>
              </a:rPr>
              <a:t>Escenario de uso: un fraccionamiento con varias propiedades en venta</a:t>
            </a:r>
          </a:p>
        </p:txBody>
      </p:sp>
    </p:spTree>
    <p:extLst>
      <p:ext uri="{BB962C8B-B14F-4D97-AF65-F5344CB8AC3E}">
        <p14:creationId xmlns:p14="http://schemas.microsoft.com/office/powerpoint/2010/main" val="255057873"/>
      </p:ext>
    </p:extLst>
  </p:cSld>
</p:sld>
</file>

<file path=ppt/slides/slide3.xml><?xml version="1.0" encoding="utf-8"?>
<p:sld xmlns:p="http://schemas.openxmlformats.org/presentationml/2006/main">
  <p:cSld>
    <p:bg>
      <p:bgPr>
        <a:solidFill xmlns:a="http://schemas.openxmlformats.org/drawingml/2006/main">
          <a:srgbClr val="122B2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0D0E71-657B-4BCD-AEA1-499ECB0CCCDB}"/>
              </a:ext>
            </a:extLst>
          </p:cNvPr>
          <p:cNvSpPr>
            <a:spLocks xmlns:a="http://schemas.openxmlformats.org/drawingml/2006/main" noGrp="1"/>
          </p:cNvSpPr>
          <p:nvPr/>
        </p:nvSpPr>
        <p:spPr>
          <a:xfrm xmlns:a="http://schemas.openxmlformats.org/drawingml/2006/main">
            <a:off x="10858500" y="62865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C6BC"/>
                </a:solidFill>
                <a:latin typeface="Arial"/>
                <a:ea typeface="Arial"/>
                <a:cs typeface="Arial"/>
              </a:defRPr>
            </a:pPr>
            <a:r>
              <a:rPr sz="1200" b="0">
                <a:solidFill>
                  <a:srgbClr val="A9C6BC"/>
                </a:solidFill>
                <a:latin typeface="Arial"/>
                <a:ea typeface="Arial"/>
                <a:cs typeface="Arial"/>
              </a:rPr>
              <a:t>03 / 07</a:t>
            </a:r>
          </a:p>
        </p:txBody>
      </p:sp>
      <p:sp>
        <p:nvSpPr>
          <p:cNvPr id="2" name="">
            <a:extLst xmlns:a="http://schemas.openxmlformats.org/drawingml/2006/main">
              <a:ext uri="{FF2B5EF4-FFF2-40B4-BE49-F238E27FC236}">
                <a16:creationId xmlns:a16="http://schemas.microsoft.com/office/drawing/2014/main" id="{D0FF53A3-1DAD-4E68-B426-A642E0E29BD8}"/>
              </a:ext>
            </a:extLst>
          </p:cNvPr>
          <p:cNvSpPr>
            <a:spLocks xmlns:a="http://schemas.openxmlformats.org/drawingml/2006/main" noGrp="1"/>
          </p:cNvSpPr>
          <p:nvPr/>
        </p:nvSpPr>
        <p:spPr>
          <a:xfrm xmlns:a="http://schemas.openxmlformats.org/drawingml/2006/main">
            <a:off x="685800" y="59055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6F8F4"/>
                </a:solidFill>
                <a:latin typeface="Arial"/>
                <a:ea typeface="Arial"/>
                <a:cs typeface="Arial"/>
              </a:defRPr>
            </a:pPr>
            <a:r>
              <a:rPr sz="3750" b="1">
                <a:solidFill>
                  <a:srgbClr val="F6F8F4"/>
                </a:solidFill>
                <a:latin typeface="Arial"/>
                <a:ea typeface="Arial"/>
                <a:cs typeface="Arial"/>
              </a:rPr>
              <a:t>Identidad digital por propiedad</a:t>
            </a:r>
          </a:p>
        </p:txBody>
      </p:sp>
      <p:sp>
        <p:nvSpPr>
          <p:cNvPr id="3" name="">
            <a:extLst xmlns:a="http://schemas.openxmlformats.org/drawingml/2006/main">
              <a:ext uri="{FF2B5EF4-FFF2-40B4-BE49-F238E27FC236}">
                <a16:creationId xmlns:a16="http://schemas.microsoft.com/office/drawing/2014/main" id="{689F7983-02D8-4496-A768-EC1B42C5F548}"/>
              </a:ext>
            </a:extLst>
          </p:cNvPr>
          <p:cNvSpPr>
            <a:spLocks xmlns:a="http://schemas.openxmlformats.org/drawingml/2006/main" noGrp="1"/>
          </p:cNvSpPr>
          <p:nvPr/>
        </p:nvSpPr>
        <p:spPr>
          <a:xfrm xmlns:a="http://schemas.openxmlformats.org/drawingml/2006/main">
            <a:off x="685800" y="2143125"/>
            <a:ext cx="4667250"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950" b="1">
                <a:solidFill>
                  <a:srgbClr val="C7F2CA"/>
                </a:solidFill>
                <a:latin typeface="Arial"/>
                <a:ea typeface="Arial"/>
                <a:cs typeface="Arial"/>
              </a:defRPr>
            </a:pPr>
            <a:r>
              <a:rPr sz="13950" b="1">
                <a:solidFill>
                  <a:srgbClr val="C7F2CA"/>
                </a:solidFill>
                <a:latin typeface="Arial"/>
                <a:ea typeface="Arial"/>
                <a:cs typeface="Arial"/>
              </a:rPr>
              <a:t>A01</a:t>
            </a:r>
          </a:p>
        </p:txBody>
      </p:sp>
      <p:sp>
        <p:nvSpPr>
          <p:cNvPr id="4" name="">
            <a:extLst xmlns:a="http://schemas.openxmlformats.org/drawingml/2006/main">
              <a:ext uri="{FF2B5EF4-FFF2-40B4-BE49-F238E27FC236}">
                <a16:creationId xmlns:a16="http://schemas.microsoft.com/office/drawing/2014/main" id="{481CF8B3-0235-4CDD-9C15-A6667ACBC363}"/>
              </a:ext>
            </a:extLst>
          </p:cNvPr>
          <p:cNvSpPr>
            <a:spLocks xmlns:a="http://schemas.openxmlformats.org/drawingml/2006/main" noGrp="1"/>
          </p:cNvSpPr>
          <p:nvPr/>
        </p:nvSpPr>
        <p:spPr>
          <a:xfrm xmlns:a="http://schemas.openxmlformats.org/drawingml/2006/main">
            <a:off x="762000" y="4572000"/>
            <a:ext cx="4381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9C6BC"/>
                </a:solidFill>
                <a:latin typeface="Arial"/>
                <a:ea typeface="Arial"/>
                <a:cs typeface="Arial"/>
              </a:defRPr>
            </a:pPr>
            <a:r>
              <a:rPr sz="2100" b="0">
                <a:solidFill>
                  <a:srgbClr val="A9C6BC"/>
                </a:solidFill>
                <a:latin typeface="Arial"/>
                <a:ea typeface="Arial"/>
                <a:cs typeface="Arial"/>
              </a:rPr>
              <a:t>Un identificador para el inmueble</a:t>
            </a:r>
          </a:p>
          <a:p xmlns:a="http://schemas.openxmlformats.org/drawingml/2006/main">
            <a:pPr>
              <a:defRPr sz="2100" b="0">
                <a:solidFill>
                  <a:srgbClr val="A9C6BC"/>
                </a:solidFill>
                <a:latin typeface="Arial"/>
                <a:ea typeface="Arial"/>
                <a:cs typeface="Arial"/>
              </a:defRPr>
            </a:pPr>
            <a:r>
              <a:rPr sz="2100" b="0">
                <a:solidFill>
                  <a:srgbClr val="A9C6BC"/>
                </a:solidFill>
                <a:latin typeface="Arial"/>
                <a:ea typeface="Arial"/>
                <a:cs typeface="Arial"/>
              </a:rPr>
              <a:t>y su historial de valoración</a:t>
            </a:r>
          </a:p>
        </p:txBody>
      </p:sp>
      <p:sp>
        <p:nvSpPr>
          <p:cNvPr id="5" name="">
            <a:extLst xmlns:a="http://schemas.openxmlformats.org/drawingml/2006/main">
              <a:ext uri="{FF2B5EF4-FFF2-40B4-BE49-F238E27FC236}">
                <a16:creationId xmlns:a16="http://schemas.microsoft.com/office/drawing/2014/main" id="{07D5E3BE-7238-48B7-A42B-33C5A2B1322F}"/>
              </a:ext>
            </a:extLst>
          </p:cNvPr>
          <p:cNvSpPr>
            <a:spLocks xmlns:a="http://schemas.openxmlformats.org/drawingml/2006/main" noGrp="1"/>
          </p:cNvSpPr>
          <p:nvPr/>
        </p:nvSpPr>
        <p:spPr>
          <a:xfrm xmlns:a="http://schemas.openxmlformats.org/drawingml/2006/main">
            <a:off x="6029325" y="19145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6F8F4"/>
                </a:solidFill>
                <a:latin typeface="Arial"/>
                <a:ea typeface="Arial"/>
                <a:cs typeface="Arial"/>
              </a:defRPr>
            </a:pPr>
            <a:r>
              <a:rPr sz="2850" b="1">
                <a:solidFill>
                  <a:srgbClr val="F6F8F4"/>
                </a:solidFill>
                <a:latin typeface="Arial"/>
                <a:ea typeface="Arial"/>
                <a:cs typeface="Arial"/>
              </a:rPr>
              <a:t>Datos del inmueble</a:t>
            </a:r>
          </a:p>
        </p:txBody>
      </p:sp>
      <p:sp>
        <p:nvSpPr>
          <p:cNvPr id="6" name="">
            <a:extLst xmlns:a="http://schemas.openxmlformats.org/drawingml/2006/main">
              <a:ext uri="{FF2B5EF4-FFF2-40B4-BE49-F238E27FC236}">
                <a16:creationId xmlns:a16="http://schemas.microsoft.com/office/drawing/2014/main" id="{0528C2C8-8078-430B-940F-600CDB872CBA}"/>
              </a:ext>
            </a:extLst>
          </p:cNvPr>
          <p:cNvSpPr>
            <a:spLocks xmlns:a="http://schemas.openxmlformats.org/drawingml/2006/main" noGrp="1"/>
          </p:cNvSpPr>
          <p:nvPr/>
        </p:nvSpPr>
        <p:spPr>
          <a:xfrm xmlns:a="http://schemas.openxmlformats.org/drawingml/2006/main">
            <a:off x="6057900" y="2543175"/>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9C6BC"/>
                </a:solidFill>
                <a:latin typeface="Arial"/>
                <a:ea typeface="Arial"/>
                <a:cs typeface="Arial"/>
              </a:defRPr>
            </a:pPr>
            <a:r>
              <a:rPr sz="1950" b="0">
                <a:solidFill>
                  <a:srgbClr val="A9C6BC"/>
                </a:solidFill>
                <a:latin typeface="Arial"/>
                <a:ea typeface="Arial"/>
                <a:cs typeface="Arial"/>
              </a:rPr>
              <a:t>Superficie, precio de referencia y estado</a:t>
            </a:r>
          </a:p>
        </p:txBody>
      </p:sp>
      <p:sp>
        <p:nvSpPr>
          <p:cNvPr id="7" name="">
            <a:extLst xmlns:a="http://schemas.openxmlformats.org/drawingml/2006/main">
              <a:ext uri="{FF2B5EF4-FFF2-40B4-BE49-F238E27FC236}">
                <a16:creationId xmlns:a16="http://schemas.microsoft.com/office/drawing/2014/main" id="{0473F8DE-1607-429C-8E85-A3AA76A878EB}"/>
              </a:ext>
            </a:extLst>
          </p:cNvPr>
          <p:cNvSpPr>
            <a:spLocks xmlns:a="http://schemas.openxmlformats.org/drawingml/2006/main" noGrp="1"/>
          </p:cNvSpPr>
          <p:nvPr/>
        </p:nvSpPr>
        <p:spPr>
          <a:xfrm xmlns:a="http://schemas.openxmlformats.org/drawingml/2006/main">
            <a:off x="6029325" y="34575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6F8F4"/>
                </a:solidFill>
                <a:latin typeface="Arial"/>
                <a:ea typeface="Arial"/>
                <a:cs typeface="Arial"/>
              </a:defRPr>
            </a:pPr>
            <a:r>
              <a:rPr sz="2850" b="1">
                <a:solidFill>
                  <a:srgbClr val="F6F8F4"/>
                </a:solidFill>
                <a:latin typeface="Arial"/>
                <a:ea typeface="Arial"/>
                <a:cs typeface="Arial"/>
              </a:rPr>
              <a:t>Valoración con fuentes</a:t>
            </a:r>
          </a:p>
        </p:txBody>
      </p:sp>
      <p:sp>
        <p:nvSpPr>
          <p:cNvPr id="8" name="">
            <a:extLst xmlns:a="http://schemas.openxmlformats.org/drawingml/2006/main">
              <a:ext uri="{FF2B5EF4-FFF2-40B4-BE49-F238E27FC236}">
                <a16:creationId xmlns:a16="http://schemas.microsoft.com/office/drawing/2014/main" id="{DEBCF264-F72C-4813-8D86-2945B211EF8C}"/>
              </a:ext>
            </a:extLst>
          </p:cNvPr>
          <p:cNvSpPr>
            <a:spLocks xmlns:a="http://schemas.openxmlformats.org/drawingml/2006/main" noGrp="1"/>
          </p:cNvSpPr>
          <p:nvPr/>
        </p:nvSpPr>
        <p:spPr>
          <a:xfrm xmlns:a="http://schemas.openxmlformats.org/drawingml/2006/main">
            <a:off x="6057900" y="408622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9C6BC"/>
                </a:solidFill>
                <a:latin typeface="Arial"/>
                <a:ea typeface="Arial"/>
                <a:cs typeface="Arial"/>
              </a:defRPr>
            </a:pPr>
            <a:r>
              <a:rPr sz="1950" b="0">
                <a:solidFill>
                  <a:srgbClr val="A9C6BC"/>
                </a:solidFill>
                <a:latin typeface="Arial"/>
                <a:ea typeface="Arial"/>
                <a:cs typeface="Arial"/>
              </a:rPr>
              <a:t>Resultado fechado y huella SHA-256</a:t>
            </a:r>
          </a:p>
        </p:txBody>
      </p:sp>
      <p:sp>
        <p:nvSpPr>
          <p:cNvPr id="9" name="">
            <a:extLst xmlns:a="http://schemas.openxmlformats.org/drawingml/2006/main">
              <a:ext uri="{FF2B5EF4-FFF2-40B4-BE49-F238E27FC236}">
                <a16:creationId xmlns:a16="http://schemas.microsoft.com/office/drawing/2014/main" id="{F356DC96-C4FE-4FEB-BF6C-D7908DE6C6C6}"/>
              </a:ext>
            </a:extLst>
          </p:cNvPr>
          <p:cNvSpPr>
            <a:spLocks xmlns:a="http://schemas.openxmlformats.org/drawingml/2006/main" noGrp="1"/>
          </p:cNvSpPr>
          <p:nvPr/>
        </p:nvSpPr>
        <p:spPr>
          <a:xfrm xmlns:a="http://schemas.openxmlformats.org/drawingml/2006/main">
            <a:off x="6029325" y="5153025"/>
            <a:ext cx="523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7F2CA"/>
                </a:solidFill>
                <a:latin typeface="Arial"/>
                <a:ea typeface="Arial"/>
                <a:cs typeface="Arial"/>
              </a:defRPr>
            </a:pPr>
            <a:r>
              <a:rPr sz="2400" b="1">
                <a:solidFill>
                  <a:srgbClr val="C7F2CA"/>
                </a:solidFill>
                <a:latin typeface="Arial"/>
                <a:ea typeface="Arial"/>
                <a:cs typeface="Arial"/>
              </a:rPr>
              <a:t>Registro del hash en Stellar</a:t>
            </a:r>
          </a:p>
        </p:txBody>
      </p:sp>
      <p:sp>
        <p:nvSpPr>
          <p:cNvPr id="10" name="">
            <a:extLst xmlns:a="http://schemas.openxmlformats.org/drawingml/2006/main">
              <a:ext uri="{FF2B5EF4-FFF2-40B4-BE49-F238E27FC236}">
                <a16:creationId xmlns:a16="http://schemas.microsoft.com/office/drawing/2014/main" id="{24D5D36B-D99D-4F70-9B09-D6DCBEF6832F}"/>
              </a:ext>
            </a:extLst>
          </p:cNvPr>
          <p:cNvSpPr>
            <a:spLocks xmlns:a="http://schemas.openxmlformats.org/drawingml/2006/main" noGrp="1"/>
          </p:cNvSpPr>
          <p:nvPr/>
        </p:nvSpPr>
        <p:spPr>
          <a:xfrm xmlns:a="http://schemas.openxmlformats.org/drawingml/2006/main">
            <a:off x="6057900" y="5695950"/>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9C6BC"/>
                </a:solidFill>
                <a:latin typeface="Arial"/>
                <a:ea typeface="Arial"/>
                <a:cs typeface="Arial"/>
              </a:defRPr>
            </a:pPr>
            <a:r>
              <a:rPr sz="1800" b="0">
                <a:solidFill>
                  <a:srgbClr val="A9C6BC"/>
                </a:solidFill>
                <a:latin typeface="Arial"/>
                <a:ea typeface="Arial"/>
                <a:cs typeface="Arial"/>
              </a:rPr>
              <a:t>Integración prevista para el piloto</a:t>
            </a:r>
          </a:p>
        </p:txBody>
      </p:sp>
    </p:spTree>
    <p:extLst>
      <p:ext uri="{BB962C8B-B14F-4D97-AF65-F5344CB8AC3E}">
        <p14:creationId xmlns:p14="http://schemas.microsoft.com/office/powerpoint/2010/main" val="86979815"/>
      </p:ext>
    </p:extLst>
  </p:cSld>
</p:sld>
</file>

<file path=ppt/slides/slide4.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96E0FF2-9118-49D2-ACC5-ADED57E6BF4F}"/>
              </a:ext>
            </a:extLst>
          </p:cNvPr>
          <p:cNvSpPr>
            <a:spLocks xmlns:a="http://schemas.openxmlformats.org/drawingml/2006/main" noGrp="1"/>
          </p:cNvSpPr>
          <p:nvPr/>
        </p:nvSpPr>
        <p:spPr>
          <a:xfrm xmlns:a="http://schemas.openxmlformats.org/drawingml/2006/main">
            <a:off x="10858500" y="62865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5766D"/>
                </a:solidFill>
                <a:latin typeface="Arial"/>
                <a:ea typeface="Arial"/>
                <a:cs typeface="Arial"/>
              </a:defRPr>
            </a:pPr>
            <a:r>
              <a:rPr sz="1200" b="0">
                <a:solidFill>
                  <a:srgbClr val="55766D"/>
                </a:solidFill>
                <a:latin typeface="Arial"/>
                <a:ea typeface="Arial"/>
                <a:cs typeface="Arial"/>
              </a:rPr>
              <a:t>04 / 07</a:t>
            </a:r>
          </a:p>
        </p:txBody>
      </p:sp>
      <p:sp>
        <p:nvSpPr>
          <p:cNvPr id="2" name="">
            <a:extLst xmlns:a="http://schemas.openxmlformats.org/drawingml/2006/main">
              <a:ext uri="{FF2B5EF4-FFF2-40B4-BE49-F238E27FC236}">
                <a16:creationId xmlns:a16="http://schemas.microsoft.com/office/drawing/2014/main" id="{1300D413-D2B3-4E31-B45F-514F7CFE677E}"/>
              </a:ext>
            </a:extLst>
          </p:cNvPr>
          <p:cNvSpPr>
            <a:spLocks xmlns:a="http://schemas.openxmlformats.org/drawingml/2006/main" noGrp="1"/>
          </p:cNvSpPr>
          <p:nvPr/>
        </p:nvSpPr>
        <p:spPr>
          <a:xfrm xmlns:a="http://schemas.openxmlformats.org/drawingml/2006/main">
            <a:off x="685800" y="59055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73D3B"/>
                </a:solidFill>
                <a:latin typeface="Arial"/>
                <a:ea typeface="Arial"/>
                <a:cs typeface="Arial"/>
              </a:defRPr>
            </a:pPr>
            <a:r>
              <a:rPr sz="3750" b="1">
                <a:solidFill>
                  <a:srgbClr val="173D3B"/>
                </a:solidFill>
                <a:latin typeface="Arial"/>
                <a:ea typeface="Arial"/>
                <a:cs typeface="Arial"/>
              </a:rPr>
              <a:t>La experiencia del comprador</a:t>
            </a:r>
          </a:p>
        </p:txBody>
      </p:sp>
      <p:sp>
        <p:nvSpPr>
          <p:cNvPr id="3" name="">
            <a:extLst xmlns:a="http://schemas.openxmlformats.org/drawingml/2006/main">
              <a:ext uri="{FF2B5EF4-FFF2-40B4-BE49-F238E27FC236}">
                <a16:creationId xmlns:a16="http://schemas.microsoft.com/office/drawing/2014/main" id="{04926C5B-9094-4C28-9AFF-5BE3214A4AA0}"/>
              </a:ext>
            </a:extLst>
          </p:cNvPr>
          <p:cNvSpPr>
            <a:spLocks xmlns:a="http://schemas.openxmlformats.org/drawingml/2006/main" noGrp="1"/>
          </p:cNvSpPr>
          <p:nvPr/>
        </p:nvSpPr>
        <p:spPr>
          <a:xfrm xmlns:a="http://schemas.openxmlformats.org/drawingml/2006/main">
            <a:off x="723900" y="1771650"/>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55766D"/>
                </a:solidFill>
                <a:latin typeface="Arial"/>
                <a:ea typeface="Arial"/>
                <a:cs typeface="Arial"/>
              </a:defRPr>
            </a:pPr>
            <a:r>
              <a:rPr sz="3150" b="1">
                <a:solidFill>
                  <a:srgbClr val="55766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223C48F7-4270-43DD-9948-9DFAF17B6BA6}"/>
              </a:ext>
            </a:extLst>
          </p:cNvPr>
          <p:cNvSpPr>
            <a:spLocks xmlns:a="http://schemas.openxmlformats.org/drawingml/2006/main" noGrp="1"/>
          </p:cNvSpPr>
          <p:nvPr/>
        </p:nvSpPr>
        <p:spPr>
          <a:xfrm xmlns:a="http://schemas.openxmlformats.org/drawingml/2006/main">
            <a:off x="1952625" y="1790700"/>
            <a:ext cx="947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D3B"/>
                </a:solidFill>
                <a:latin typeface="Arial"/>
                <a:ea typeface="Arial"/>
                <a:cs typeface="Arial"/>
              </a:defRPr>
            </a:pPr>
            <a:r>
              <a:rPr sz="2625" b="1">
                <a:solidFill>
                  <a:srgbClr val="173D3B"/>
                </a:solidFill>
                <a:latin typeface="Arial"/>
                <a:ea typeface="Arial"/>
                <a:cs typeface="Arial"/>
              </a:rPr>
              <a:t>Explorar cinco propiedades ficticias</a:t>
            </a:r>
          </a:p>
        </p:txBody>
      </p:sp>
      <p:sp>
        <p:nvSpPr>
          <p:cNvPr id="5" name="">
            <a:extLst xmlns:a="http://schemas.openxmlformats.org/drawingml/2006/main">
              <a:ext uri="{FF2B5EF4-FFF2-40B4-BE49-F238E27FC236}">
                <a16:creationId xmlns:a16="http://schemas.microsoft.com/office/drawing/2014/main" id="{ED96902E-91E5-4831-883F-0A45F604E3F0}"/>
              </a:ext>
            </a:extLst>
          </p:cNvPr>
          <p:cNvSpPr>
            <a:spLocks xmlns:a="http://schemas.openxmlformats.org/drawingml/2006/main" noGrp="1"/>
          </p:cNvSpPr>
          <p:nvPr/>
        </p:nvSpPr>
        <p:spPr>
          <a:xfrm xmlns:a="http://schemas.openxmlformats.org/drawingml/2006/main">
            <a:off x="723900" y="2724150"/>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55766D"/>
                </a:solidFill>
                <a:latin typeface="Arial"/>
                <a:ea typeface="Arial"/>
                <a:cs typeface="Arial"/>
              </a:defRPr>
            </a:pPr>
            <a:r>
              <a:rPr sz="3150" b="1">
                <a:solidFill>
                  <a:srgbClr val="55766D"/>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12A21818-4CEE-4C38-8D1B-03DC87691724}"/>
              </a:ext>
            </a:extLst>
          </p:cNvPr>
          <p:cNvSpPr>
            <a:spLocks xmlns:a="http://schemas.openxmlformats.org/drawingml/2006/main" noGrp="1"/>
          </p:cNvSpPr>
          <p:nvPr/>
        </p:nvSpPr>
        <p:spPr>
          <a:xfrm xmlns:a="http://schemas.openxmlformats.org/drawingml/2006/main">
            <a:off x="1952625" y="2743200"/>
            <a:ext cx="947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D3B"/>
                </a:solidFill>
                <a:latin typeface="Arial"/>
                <a:ea typeface="Arial"/>
                <a:cs typeface="Arial"/>
              </a:defRPr>
            </a:pPr>
            <a:r>
              <a:rPr sz="2625" b="1">
                <a:solidFill>
                  <a:srgbClr val="173D3B"/>
                </a:solidFill>
                <a:latin typeface="Arial"/>
                <a:ea typeface="Arial"/>
                <a:cs typeface="Arial"/>
              </a:rPr>
              <a:t>Revisar características y análisis</a:t>
            </a:r>
          </a:p>
        </p:txBody>
      </p:sp>
      <p:sp>
        <p:nvSpPr>
          <p:cNvPr id="7" name="">
            <a:extLst xmlns:a="http://schemas.openxmlformats.org/drawingml/2006/main">
              <a:ext uri="{FF2B5EF4-FFF2-40B4-BE49-F238E27FC236}">
                <a16:creationId xmlns:a16="http://schemas.microsoft.com/office/drawing/2014/main" id="{F4FC24BD-C4DD-4BB2-B5F4-93E6C2AD1048}"/>
              </a:ext>
            </a:extLst>
          </p:cNvPr>
          <p:cNvSpPr>
            <a:spLocks xmlns:a="http://schemas.openxmlformats.org/drawingml/2006/main" noGrp="1"/>
          </p:cNvSpPr>
          <p:nvPr/>
        </p:nvSpPr>
        <p:spPr>
          <a:xfrm xmlns:a="http://schemas.openxmlformats.org/drawingml/2006/main">
            <a:off x="723900" y="3676650"/>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55766D"/>
                </a:solidFill>
                <a:latin typeface="Arial"/>
                <a:ea typeface="Arial"/>
                <a:cs typeface="Arial"/>
              </a:defRPr>
            </a:pPr>
            <a:r>
              <a:rPr sz="3150" b="1">
                <a:solidFill>
                  <a:srgbClr val="55766D"/>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8C5A525C-BFE2-494C-A9C3-02089C493DA9}"/>
              </a:ext>
            </a:extLst>
          </p:cNvPr>
          <p:cNvSpPr>
            <a:spLocks xmlns:a="http://schemas.openxmlformats.org/drawingml/2006/main" noGrp="1"/>
          </p:cNvSpPr>
          <p:nvPr/>
        </p:nvSpPr>
        <p:spPr>
          <a:xfrm xmlns:a="http://schemas.openxmlformats.org/drawingml/2006/main">
            <a:off x="1952625" y="3695700"/>
            <a:ext cx="947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D3B"/>
                </a:solidFill>
                <a:latin typeface="Arial"/>
                <a:ea typeface="Arial"/>
                <a:cs typeface="Arial"/>
              </a:defRPr>
            </a:pPr>
            <a:r>
              <a:rPr sz="2625" b="1">
                <a:solidFill>
                  <a:srgbClr val="173D3B"/>
                </a:solidFill>
                <a:latin typeface="Arial"/>
                <a:ea typeface="Arial"/>
                <a:cs typeface="Arial"/>
              </a:rPr>
              <a:t>Conectar Freighter y firmar la reserva</a:t>
            </a:r>
          </a:p>
        </p:txBody>
      </p:sp>
      <p:sp>
        <p:nvSpPr>
          <p:cNvPr id="9" name="">
            <a:extLst xmlns:a="http://schemas.openxmlformats.org/drawingml/2006/main">
              <a:ext uri="{FF2B5EF4-FFF2-40B4-BE49-F238E27FC236}">
                <a16:creationId xmlns:a16="http://schemas.microsoft.com/office/drawing/2014/main" id="{E9C46BF4-F926-47E9-ACA2-7AC39C046D1C}"/>
              </a:ext>
            </a:extLst>
          </p:cNvPr>
          <p:cNvSpPr>
            <a:spLocks xmlns:a="http://schemas.openxmlformats.org/drawingml/2006/main" noGrp="1"/>
          </p:cNvSpPr>
          <p:nvPr/>
        </p:nvSpPr>
        <p:spPr>
          <a:xfrm xmlns:a="http://schemas.openxmlformats.org/drawingml/2006/main">
            <a:off x="723900" y="4629150"/>
            <a:ext cx="904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55766D"/>
                </a:solidFill>
                <a:latin typeface="Arial"/>
                <a:ea typeface="Arial"/>
                <a:cs typeface="Arial"/>
              </a:defRPr>
            </a:pPr>
            <a:r>
              <a:rPr sz="3150" b="1">
                <a:solidFill>
                  <a:srgbClr val="55766D"/>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CC79E3E3-BDBD-468F-B7F1-D649913C2938}"/>
              </a:ext>
            </a:extLst>
          </p:cNvPr>
          <p:cNvSpPr>
            <a:spLocks xmlns:a="http://schemas.openxmlformats.org/drawingml/2006/main" noGrp="1"/>
          </p:cNvSpPr>
          <p:nvPr/>
        </p:nvSpPr>
        <p:spPr>
          <a:xfrm xmlns:a="http://schemas.openxmlformats.org/drawingml/2006/main">
            <a:off x="1952625" y="4648200"/>
            <a:ext cx="9477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D3B"/>
                </a:solidFill>
                <a:latin typeface="Arial"/>
                <a:ea typeface="Arial"/>
                <a:cs typeface="Arial"/>
              </a:defRPr>
            </a:pPr>
            <a:r>
              <a:rPr sz="2625" b="1">
                <a:solidFill>
                  <a:srgbClr val="173D3B"/>
                </a:solidFill>
                <a:latin typeface="Arial"/>
                <a:ea typeface="Arial"/>
                <a:cs typeface="Arial"/>
              </a:rPr>
              <a:t>Consultar la confirmación en Testnet</a:t>
            </a:r>
          </a:p>
        </p:txBody>
      </p:sp>
      <p:sp>
        <p:nvSpPr>
          <p:cNvPr id="11" name="">
            <a:extLst xmlns:a="http://schemas.openxmlformats.org/drawingml/2006/main">
              <a:ext uri="{FF2B5EF4-FFF2-40B4-BE49-F238E27FC236}">
                <a16:creationId xmlns:a16="http://schemas.microsoft.com/office/drawing/2014/main" id="{C602AA7E-5019-4DE6-8857-5AAB9E9E22B6}"/>
              </a:ext>
            </a:extLst>
          </p:cNvPr>
          <p:cNvSpPr>
            <a:spLocks xmlns:a="http://schemas.openxmlformats.org/drawingml/2006/main" noGrp="1"/>
          </p:cNvSpPr>
          <p:nvPr/>
        </p:nvSpPr>
        <p:spPr>
          <a:xfrm xmlns:a="http://schemas.openxmlformats.org/drawingml/2006/main">
            <a:off x="723900" y="57912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766D"/>
                </a:solidFill>
                <a:latin typeface="Arial"/>
                <a:ea typeface="Arial"/>
                <a:cs typeface="Arial"/>
              </a:defRPr>
            </a:pPr>
            <a:r>
              <a:rPr sz="1800" b="0">
                <a:solidFill>
                  <a:srgbClr val="55766D"/>
                </a:solidFill>
                <a:latin typeface="Arial"/>
                <a:ea typeface="Arial"/>
                <a:cs typeface="Arial"/>
              </a:rPr>
              <a:t>La firma y la confirmación requieren el contrato desplegado y configurado</a:t>
            </a:r>
          </a:p>
        </p:txBody>
      </p:sp>
    </p:spTree>
    <p:extLst>
      <p:ext uri="{BB962C8B-B14F-4D97-AF65-F5344CB8AC3E}">
        <p14:creationId xmlns:p14="http://schemas.microsoft.com/office/powerpoint/2010/main" val="2014658275"/>
      </p:ext>
    </p:extLst>
  </p:cSld>
</p:sld>
</file>

<file path=ppt/slides/slide5.xml><?xml version="1.0" encoding="utf-8"?>
<p:sld xmlns:p="http://schemas.openxmlformats.org/presentationml/2006/main">
  <p:cSld>
    <p:bg>
      <p:bgPr>
        <a:solidFill xmlns:a="http://schemas.openxmlformats.org/drawingml/2006/main">
          <a:srgbClr val="122B2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AF57AA6-C588-4D0D-94C1-FC05DD6B9F34}"/>
              </a:ext>
            </a:extLst>
          </p:cNvPr>
          <p:cNvSpPr>
            <a:spLocks xmlns:a="http://schemas.openxmlformats.org/drawingml/2006/main" noGrp="1"/>
          </p:cNvSpPr>
          <p:nvPr/>
        </p:nvSpPr>
        <p:spPr>
          <a:xfrm xmlns:a="http://schemas.openxmlformats.org/drawingml/2006/main">
            <a:off x="10858500" y="62865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C6BC"/>
                </a:solidFill>
                <a:latin typeface="Arial"/>
                <a:ea typeface="Arial"/>
                <a:cs typeface="Arial"/>
              </a:defRPr>
            </a:pPr>
            <a:r>
              <a:rPr sz="1200" b="0">
                <a:solidFill>
                  <a:srgbClr val="A9C6BC"/>
                </a:solidFill>
                <a:latin typeface="Arial"/>
                <a:ea typeface="Arial"/>
                <a:cs typeface="Arial"/>
              </a:rPr>
              <a:t>05 / 07</a:t>
            </a:r>
          </a:p>
        </p:txBody>
      </p:sp>
      <p:sp>
        <p:nvSpPr>
          <p:cNvPr id="2" name="">
            <a:extLst xmlns:a="http://schemas.openxmlformats.org/drawingml/2006/main">
              <a:ext uri="{FF2B5EF4-FFF2-40B4-BE49-F238E27FC236}">
                <a16:creationId xmlns:a16="http://schemas.microsoft.com/office/drawing/2014/main" id="{19A2B649-987C-45BF-AD11-7D5C7C21027E}"/>
              </a:ext>
            </a:extLst>
          </p:cNvPr>
          <p:cNvSpPr>
            <a:spLocks xmlns:a="http://schemas.openxmlformats.org/drawingml/2006/main" noGrp="1"/>
          </p:cNvSpPr>
          <p:nvPr/>
        </p:nvSpPr>
        <p:spPr>
          <a:xfrm xmlns:a="http://schemas.openxmlformats.org/drawingml/2006/main">
            <a:off x="685800" y="6096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6F8F4"/>
                </a:solidFill>
                <a:latin typeface="Arial"/>
                <a:ea typeface="Arial"/>
                <a:cs typeface="Arial"/>
              </a:defRPr>
            </a:pPr>
            <a:r>
              <a:rPr sz="3750" b="1">
                <a:solidFill>
                  <a:srgbClr val="F6F8F4"/>
                </a:solidFill>
                <a:latin typeface="Arial"/>
                <a:ea typeface="Arial"/>
                <a:cs typeface="Arial"/>
              </a:rPr>
              <a:t>Reglas de ejecución en Stellar</a:t>
            </a:r>
          </a:p>
        </p:txBody>
      </p:sp>
      <p:sp>
        <p:nvSpPr>
          <p:cNvPr id="3" name="">
            <a:extLst xmlns:a="http://schemas.openxmlformats.org/drawingml/2006/main">
              <a:ext uri="{FF2B5EF4-FFF2-40B4-BE49-F238E27FC236}">
                <a16:creationId xmlns:a16="http://schemas.microsoft.com/office/drawing/2014/main" id="{7A55158D-5590-4BB2-8ADE-F964E77E7B5C}"/>
              </a:ext>
            </a:extLst>
          </p:cNvPr>
          <p:cNvSpPr>
            <a:spLocks xmlns:a="http://schemas.openxmlformats.org/drawingml/2006/main" noGrp="1"/>
          </p:cNvSpPr>
          <p:nvPr/>
        </p:nvSpPr>
        <p:spPr>
          <a:xfrm xmlns:a="http://schemas.openxmlformats.org/drawingml/2006/main">
            <a:off x="723900" y="209550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C7F2CA"/>
                </a:solidFill>
                <a:latin typeface="Arial"/>
                <a:ea typeface="Arial"/>
                <a:cs typeface="Arial"/>
              </a:defRPr>
            </a:pPr>
            <a:r>
              <a:rPr sz="4350" b="1">
                <a:solidFill>
                  <a:srgbClr val="C7F2CA"/>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DBE65DB-7726-432D-9302-8E5C9F5E34E0}"/>
              </a:ext>
            </a:extLst>
          </p:cNvPr>
          <p:cNvSpPr>
            <a:spLocks xmlns:a="http://schemas.openxmlformats.org/drawingml/2006/main" noGrp="1"/>
          </p:cNvSpPr>
          <p:nvPr/>
        </p:nvSpPr>
        <p:spPr>
          <a:xfrm xmlns:a="http://schemas.openxmlformats.org/drawingml/2006/main">
            <a:off x="723900" y="3057525"/>
            <a:ext cx="252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6F8F4"/>
                </a:solidFill>
                <a:latin typeface="Arial"/>
                <a:ea typeface="Arial"/>
                <a:cs typeface="Arial"/>
              </a:defRPr>
            </a:pPr>
            <a:r>
              <a:rPr sz="2700" b="1">
                <a:solidFill>
                  <a:srgbClr val="F6F8F4"/>
                </a:solidFill>
                <a:latin typeface="Arial"/>
                <a:ea typeface="Arial"/>
                <a:cs typeface="Arial"/>
              </a:rPr>
              <a:t>Gemini</a:t>
            </a:r>
          </a:p>
        </p:txBody>
      </p:sp>
      <p:sp>
        <p:nvSpPr>
          <p:cNvPr id="5" name="">
            <a:extLst xmlns:a="http://schemas.openxmlformats.org/drawingml/2006/main">
              <a:ext uri="{FF2B5EF4-FFF2-40B4-BE49-F238E27FC236}">
                <a16:creationId xmlns:a16="http://schemas.microsoft.com/office/drawing/2014/main" id="{C0072106-AECB-4E7B-86EC-AAAF4AEC28CB}"/>
              </a:ext>
            </a:extLst>
          </p:cNvPr>
          <p:cNvSpPr>
            <a:spLocks xmlns:a="http://schemas.openxmlformats.org/drawingml/2006/main" noGrp="1"/>
          </p:cNvSpPr>
          <p:nvPr/>
        </p:nvSpPr>
        <p:spPr>
          <a:xfrm xmlns:a="http://schemas.openxmlformats.org/drawingml/2006/main">
            <a:off x="723900" y="3829050"/>
            <a:ext cx="257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9C6BC"/>
                </a:solidFill>
                <a:latin typeface="Arial"/>
                <a:ea typeface="Arial"/>
                <a:cs typeface="Arial"/>
              </a:defRPr>
            </a:pPr>
            <a:r>
              <a:rPr sz="2025" b="0">
                <a:solidFill>
                  <a:srgbClr val="A9C6BC"/>
                </a:solidFill>
                <a:latin typeface="Arial"/>
                <a:ea typeface="Arial"/>
                <a:cs typeface="Arial"/>
              </a:rPr>
              <a:t>Analiza datos y</a:t>
            </a:r>
          </a:p>
          <a:p xmlns:a="http://schemas.openxmlformats.org/drawingml/2006/main">
            <a:pPr>
              <a:defRPr sz="2025" b="0">
                <a:solidFill>
                  <a:srgbClr val="A9C6BC"/>
                </a:solidFill>
                <a:latin typeface="Arial"/>
                <a:ea typeface="Arial"/>
                <a:cs typeface="Arial"/>
              </a:defRPr>
            </a:pPr>
            <a:r>
              <a:rPr sz="2025" b="0">
                <a:solidFill>
                  <a:srgbClr val="A9C6BC"/>
                </a:solidFill>
                <a:latin typeface="Arial"/>
                <a:ea typeface="Arial"/>
                <a:cs typeface="Arial"/>
              </a:rPr>
              <a:t>devuelve fuentes</a:t>
            </a:r>
          </a:p>
        </p:txBody>
      </p:sp>
      <p:sp>
        <p:nvSpPr>
          <p:cNvPr id="6" name="">
            <a:extLst xmlns:a="http://schemas.openxmlformats.org/drawingml/2006/main">
              <a:ext uri="{FF2B5EF4-FFF2-40B4-BE49-F238E27FC236}">
                <a16:creationId xmlns:a16="http://schemas.microsoft.com/office/drawing/2014/main" id="{9320AA03-39A7-4264-99C4-1F92A49E305C}"/>
              </a:ext>
            </a:extLst>
          </p:cNvPr>
          <p:cNvSpPr>
            <a:spLocks xmlns:a="http://schemas.openxmlformats.org/drawingml/2006/main" noGrp="1"/>
          </p:cNvSpPr>
          <p:nvPr/>
        </p:nvSpPr>
        <p:spPr>
          <a:xfrm xmlns:a="http://schemas.openxmlformats.org/drawingml/2006/main">
            <a:off x="3533775" y="209550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C7F2CA"/>
                </a:solidFill>
                <a:latin typeface="Arial"/>
                <a:ea typeface="Arial"/>
                <a:cs typeface="Arial"/>
              </a:defRPr>
            </a:pPr>
            <a:r>
              <a:rPr sz="4350" b="1">
                <a:solidFill>
                  <a:srgbClr val="C7F2CA"/>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615C7215-60DE-47C8-BED3-71EAF9400322}"/>
              </a:ext>
            </a:extLst>
          </p:cNvPr>
          <p:cNvSpPr>
            <a:spLocks xmlns:a="http://schemas.openxmlformats.org/drawingml/2006/main" noGrp="1"/>
          </p:cNvSpPr>
          <p:nvPr/>
        </p:nvSpPr>
        <p:spPr>
          <a:xfrm xmlns:a="http://schemas.openxmlformats.org/drawingml/2006/main">
            <a:off x="3533775" y="3057525"/>
            <a:ext cx="252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6F8F4"/>
                </a:solidFill>
                <a:latin typeface="Arial"/>
                <a:ea typeface="Arial"/>
                <a:cs typeface="Arial"/>
              </a:defRPr>
            </a:pPr>
            <a:r>
              <a:rPr sz="2700" b="1">
                <a:solidFill>
                  <a:srgbClr val="F6F8F4"/>
                </a:solidFill>
                <a:latin typeface="Arial"/>
                <a:ea typeface="Arial"/>
                <a:cs typeface="Arial"/>
              </a:rPr>
              <a:t>Oráculo</a:t>
            </a:r>
          </a:p>
        </p:txBody>
      </p:sp>
      <p:sp>
        <p:nvSpPr>
          <p:cNvPr id="8" name="">
            <a:extLst xmlns:a="http://schemas.openxmlformats.org/drawingml/2006/main">
              <a:ext uri="{FF2B5EF4-FFF2-40B4-BE49-F238E27FC236}">
                <a16:creationId xmlns:a16="http://schemas.microsoft.com/office/drawing/2014/main" id="{82677133-A0FD-457F-812C-CA0ACAC54226}"/>
              </a:ext>
            </a:extLst>
          </p:cNvPr>
          <p:cNvSpPr>
            <a:spLocks xmlns:a="http://schemas.openxmlformats.org/drawingml/2006/main" noGrp="1"/>
          </p:cNvSpPr>
          <p:nvPr/>
        </p:nvSpPr>
        <p:spPr>
          <a:xfrm xmlns:a="http://schemas.openxmlformats.org/drawingml/2006/main">
            <a:off x="3533775" y="3829050"/>
            <a:ext cx="257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9C6BC"/>
                </a:solidFill>
                <a:latin typeface="Arial"/>
                <a:ea typeface="Arial"/>
                <a:cs typeface="Arial"/>
              </a:defRPr>
            </a:pPr>
            <a:r>
              <a:rPr sz="2025" b="0">
                <a:solidFill>
                  <a:srgbClr val="A9C6BC"/>
                </a:solidFill>
                <a:latin typeface="Arial"/>
                <a:ea typeface="Arial"/>
                <a:cs typeface="Arial"/>
              </a:rPr>
              <a:t>Publica un resultado</a:t>
            </a:r>
          </a:p>
          <a:p xmlns:a="http://schemas.openxmlformats.org/drawingml/2006/main">
            <a:pPr>
              <a:defRPr sz="2025" b="0">
                <a:solidFill>
                  <a:srgbClr val="A9C6BC"/>
                </a:solidFill>
                <a:latin typeface="Arial"/>
                <a:ea typeface="Arial"/>
                <a:cs typeface="Arial"/>
              </a:defRPr>
            </a:pPr>
            <a:r>
              <a:rPr sz="2025" b="0">
                <a:solidFill>
                  <a:srgbClr val="A9C6BC"/>
                </a:solidFill>
                <a:latin typeface="Arial"/>
                <a:ea typeface="Arial"/>
                <a:cs typeface="Arial"/>
              </a:rPr>
              <a:t>con autorización</a:t>
            </a:r>
          </a:p>
        </p:txBody>
      </p:sp>
      <p:sp>
        <p:nvSpPr>
          <p:cNvPr id="9" name="">
            <a:extLst xmlns:a="http://schemas.openxmlformats.org/drawingml/2006/main">
              <a:ext uri="{FF2B5EF4-FFF2-40B4-BE49-F238E27FC236}">
                <a16:creationId xmlns:a16="http://schemas.microsoft.com/office/drawing/2014/main" id="{3ABDE9E1-218D-4625-AD1C-7323300E1C1C}"/>
              </a:ext>
            </a:extLst>
          </p:cNvPr>
          <p:cNvSpPr>
            <a:spLocks xmlns:a="http://schemas.openxmlformats.org/drawingml/2006/main" noGrp="1"/>
          </p:cNvSpPr>
          <p:nvPr/>
        </p:nvSpPr>
        <p:spPr>
          <a:xfrm xmlns:a="http://schemas.openxmlformats.org/drawingml/2006/main">
            <a:off x="6343650" y="209550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C7F2CA"/>
                </a:solidFill>
                <a:latin typeface="Arial"/>
                <a:ea typeface="Arial"/>
                <a:cs typeface="Arial"/>
              </a:defRPr>
            </a:pPr>
            <a:r>
              <a:rPr sz="4350" b="1">
                <a:solidFill>
                  <a:srgbClr val="C7F2CA"/>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CF9A87C-9F9F-456B-A6F1-E1C9AFFC8CEB}"/>
              </a:ext>
            </a:extLst>
          </p:cNvPr>
          <p:cNvSpPr>
            <a:spLocks xmlns:a="http://schemas.openxmlformats.org/drawingml/2006/main" noGrp="1"/>
          </p:cNvSpPr>
          <p:nvPr/>
        </p:nvSpPr>
        <p:spPr>
          <a:xfrm xmlns:a="http://schemas.openxmlformats.org/drawingml/2006/main">
            <a:off x="6343650" y="3057525"/>
            <a:ext cx="252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6F8F4"/>
                </a:solidFill>
                <a:latin typeface="Arial"/>
                <a:ea typeface="Arial"/>
                <a:cs typeface="Arial"/>
              </a:defRPr>
            </a:pPr>
            <a:r>
              <a:rPr sz="2700" b="1">
                <a:solidFill>
                  <a:srgbClr val="F6F8F4"/>
                </a:solidFill>
                <a:latin typeface="Arial"/>
                <a:ea typeface="Arial"/>
                <a:cs typeface="Arial"/>
              </a:rPr>
              <a:t>Soroban</a:t>
            </a:r>
          </a:p>
        </p:txBody>
      </p:sp>
      <p:sp>
        <p:nvSpPr>
          <p:cNvPr id="11" name="">
            <a:extLst xmlns:a="http://schemas.openxmlformats.org/drawingml/2006/main">
              <a:ext uri="{FF2B5EF4-FFF2-40B4-BE49-F238E27FC236}">
                <a16:creationId xmlns:a16="http://schemas.microsoft.com/office/drawing/2014/main" id="{C6B57D76-F122-4C6D-A245-EDDDE0098180}"/>
              </a:ext>
            </a:extLst>
          </p:cNvPr>
          <p:cNvSpPr>
            <a:spLocks xmlns:a="http://schemas.openxmlformats.org/drawingml/2006/main" noGrp="1"/>
          </p:cNvSpPr>
          <p:nvPr/>
        </p:nvSpPr>
        <p:spPr>
          <a:xfrm xmlns:a="http://schemas.openxmlformats.org/drawingml/2006/main">
            <a:off x="6343650" y="3829050"/>
            <a:ext cx="257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9C6BC"/>
                </a:solidFill>
                <a:latin typeface="Arial"/>
                <a:ea typeface="Arial"/>
                <a:cs typeface="Arial"/>
              </a:defRPr>
            </a:pPr>
            <a:r>
              <a:rPr sz="2025" b="0">
                <a:solidFill>
                  <a:srgbClr val="A9C6BC"/>
                </a:solidFill>
                <a:latin typeface="Arial"/>
                <a:ea typeface="Arial"/>
                <a:cs typeface="Arial"/>
              </a:rPr>
              <a:t>Verifica reglas y</a:t>
            </a:r>
          </a:p>
          <a:p xmlns:a="http://schemas.openxmlformats.org/drawingml/2006/main">
            <a:pPr>
              <a:defRPr sz="2025" b="0">
                <a:solidFill>
                  <a:srgbClr val="A9C6BC"/>
                </a:solidFill>
                <a:latin typeface="Arial"/>
                <a:ea typeface="Arial"/>
                <a:cs typeface="Arial"/>
              </a:defRPr>
            </a:pPr>
            <a:r>
              <a:rPr sz="2025" b="0">
                <a:solidFill>
                  <a:srgbClr val="A9C6BC"/>
                </a:solidFill>
                <a:latin typeface="Arial"/>
                <a:ea typeface="Arial"/>
                <a:cs typeface="Arial"/>
              </a:rPr>
              <a:t>ejecuta el contrato</a:t>
            </a:r>
          </a:p>
        </p:txBody>
      </p:sp>
      <p:sp>
        <p:nvSpPr>
          <p:cNvPr id="12" name="">
            <a:extLst xmlns:a="http://schemas.openxmlformats.org/drawingml/2006/main">
              <a:ext uri="{FF2B5EF4-FFF2-40B4-BE49-F238E27FC236}">
                <a16:creationId xmlns:a16="http://schemas.microsoft.com/office/drawing/2014/main" id="{D5D428F3-016F-4AB9-AAC4-F9B3919F99B9}"/>
              </a:ext>
            </a:extLst>
          </p:cNvPr>
          <p:cNvSpPr>
            <a:spLocks xmlns:a="http://schemas.openxmlformats.org/drawingml/2006/main" noGrp="1"/>
          </p:cNvSpPr>
          <p:nvPr/>
        </p:nvSpPr>
        <p:spPr>
          <a:xfrm xmlns:a="http://schemas.openxmlformats.org/drawingml/2006/main">
            <a:off x="9153525" y="2095500"/>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C7F2CA"/>
                </a:solidFill>
                <a:latin typeface="Arial"/>
                <a:ea typeface="Arial"/>
                <a:cs typeface="Arial"/>
              </a:defRPr>
            </a:pPr>
            <a:r>
              <a:rPr sz="4350" b="1">
                <a:solidFill>
                  <a:srgbClr val="C7F2CA"/>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97AA5088-09DC-4432-AA8D-BCA8BF0FA421}"/>
              </a:ext>
            </a:extLst>
          </p:cNvPr>
          <p:cNvSpPr>
            <a:spLocks xmlns:a="http://schemas.openxmlformats.org/drawingml/2006/main" noGrp="1"/>
          </p:cNvSpPr>
          <p:nvPr/>
        </p:nvSpPr>
        <p:spPr>
          <a:xfrm xmlns:a="http://schemas.openxmlformats.org/drawingml/2006/main">
            <a:off x="9153525" y="3057525"/>
            <a:ext cx="252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6F8F4"/>
                </a:solidFill>
                <a:latin typeface="Arial"/>
                <a:ea typeface="Arial"/>
                <a:cs typeface="Arial"/>
              </a:defRPr>
            </a:pPr>
            <a:r>
              <a:rPr sz="2700" b="1">
                <a:solidFill>
                  <a:srgbClr val="F6F8F4"/>
                </a:solidFill>
                <a:latin typeface="Arial"/>
                <a:ea typeface="Arial"/>
                <a:cs typeface="Arial"/>
              </a:rPr>
              <a:t>Freighter</a:t>
            </a:r>
          </a:p>
        </p:txBody>
      </p:sp>
      <p:sp>
        <p:nvSpPr>
          <p:cNvPr id="14" name="">
            <a:extLst xmlns:a="http://schemas.openxmlformats.org/drawingml/2006/main">
              <a:ext uri="{FF2B5EF4-FFF2-40B4-BE49-F238E27FC236}">
                <a16:creationId xmlns:a16="http://schemas.microsoft.com/office/drawing/2014/main" id="{270243C1-1EBB-4492-A505-F9EC82AE80B2}"/>
              </a:ext>
            </a:extLst>
          </p:cNvPr>
          <p:cNvSpPr>
            <a:spLocks xmlns:a="http://schemas.openxmlformats.org/drawingml/2006/main" noGrp="1"/>
          </p:cNvSpPr>
          <p:nvPr/>
        </p:nvSpPr>
        <p:spPr>
          <a:xfrm xmlns:a="http://schemas.openxmlformats.org/drawingml/2006/main">
            <a:off x="9153525" y="3829050"/>
            <a:ext cx="257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9C6BC"/>
                </a:solidFill>
                <a:latin typeface="Arial"/>
                <a:ea typeface="Arial"/>
                <a:cs typeface="Arial"/>
              </a:defRPr>
            </a:pPr>
            <a:r>
              <a:rPr sz="2025" b="0">
                <a:solidFill>
                  <a:srgbClr val="A9C6BC"/>
                </a:solidFill>
                <a:latin typeface="Arial"/>
                <a:ea typeface="Arial"/>
                <a:cs typeface="Arial"/>
              </a:rPr>
              <a:t>Permite al usuario</a:t>
            </a:r>
          </a:p>
          <a:p xmlns:a="http://schemas.openxmlformats.org/drawingml/2006/main">
            <a:pPr>
              <a:defRPr sz="2025" b="0">
                <a:solidFill>
                  <a:srgbClr val="A9C6BC"/>
                </a:solidFill>
                <a:latin typeface="Arial"/>
                <a:ea typeface="Arial"/>
                <a:cs typeface="Arial"/>
              </a:defRPr>
            </a:pPr>
            <a:r>
              <a:rPr sz="2025" b="0">
                <a:solidFill>
                  <a:srgbClr val="A9C6BC"/>
                </a:solidFill>
                <a:latin typeface="Arial"/>
                <a:ea typeface="Arial"/>
                <a:cs typeface="Arial"/>
              </a:rPr>
              <a:t>firmar la operación</a:t>
            </a:r>
          </a:p>
        </p:txBody>
      </p:sp>
      <p:sp>
        <p:nvSpPr>
          <p:cNvPr id="15" name="">
            <a:extLst xmlns:a="http://schemas.openxmlformats.org/drawingml/2006/main">
              <a:ext uri="{FF2B5EF4-FFF2-40B4-BE49-F238E27FC236}">
                <a16:creationId xmlns:a16="http://schemas.microsoft.com/office/drawing/2014/main" id="{B8C2C52F-6FBA-4B0D-88EE-8DCBA9CB21E0}"/>
              </a:ext>
            </a:extLst>
          </p:cNvPr>
          <p:cNvSpPr>
            <a:spLocks xmlns:a="http://schemas.openxmlformats.org/drawingml/2006/main" noGrp="1"/>
          </p:cNvSpPr>
          <p:nvPr/>
        </p:nvSpPr>
        <p:spPr>
          <a:xfrm xmlns:a="http://schemas.openxmlformats.org/drawingml/2006/main">
            <a:off x="723900" y="54673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7F2CA"/>
                </a:solidFill>
                <a:latin typeface="Arial"/>
                <a:ea typeface="Arial"/>
                <a:cs typeface="Arial"/>
              </a:defRPr>
            </a:pPr>
            <a:r>
              <a:rPr sz="1875" b="0">
                <a:solidFill>
                  <a:srgbClr val="C7F2CA"/>
                </a:solidFill>
                <a:latin typeface="Arial"/>
                <a:ea typeface="Arial"/>
                <a:cs typeface="Arial"/>
              </a:rPr>
              <a:t>Compra en el código: valoración de hasta 24 h, score ≥80 y confianza ≥75</a:t>
            </a:r>
          </a:p>
        </p:txBody>
      </p:sp>
      <p:sp>
        <p:nvSpPr>
          <p:cNvPr id="16" name="">
            <a:extLst xmlns:a="http://schemas.openxmlformats.org/drawingml/2006/main">
              <a:ext uri="{FF2B5EF4-FFF2-40B4-BE49-F238E27FC236}">
                <a16:creationId xmlns:a16="http://schemas.microsoft.com/office/drawing/2014/main" id="{115974BF-51FE-460A-BF8E-68199130B872}"/>
              </a:ext>
            </a:extLst>
          </p:cNvPr>
          <p:cNvSpPr>
            <a:spLocks xmlns:a="http://schemas.openxmlformats.org/drawingml/2006/main" noGrp="1"/>
          </p:cNvSpPr>
          <p:nvPr/>
        </p:nvSpPr>
        <p:spPr>
          <a:xfrm xmlns:a="http://schemas.openxmlformats.org/drawingml/2006/main">
            <a:off x="723900" y="60007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9C6BC"/>
                </a:solidFill>
                <a:latin typeface="Arial"/>
                <a:ea typeface="Arial"/>
                <a:cs typeface="Arial"/>
              </a:defRPr>
            </a:pPr>
            <a:r>
              <a:rPr sz="1500" b="0">
                <a:solidFill>
                  <a:srgbClr val="A9C6BC"/>
                </a:solidFill>
                <a:latin typeface="Arial"/>
                <a:ea typeface="Arial"/>
                <a:cs typeface="Arial"/>
              </a:rPr>
              <a:t>Pago con token de prueba y cambio de dueño del registro digital, pendientes de validar</a:t>
            </a:r>
          </a:p>
        </p:txBody>
      </p:sp>
    </p:spTree>
    <p:extLst>
      <p:ext uri="{BB962C8B-B14F-4D97-AF65-F5344CB8AC3E}">
        <p14:creationId xmlns:p14="http://schemas.microsoft.com/office/powerpoint/2010/main" val="1937818908"/>
      </p:ext>
    </p:extLst>
  </p:cSld>
</p:sld>
</file>

<file path=ppt/slides/slide6.xml><?xml version="1.0" encoding="utf-8"?>
<p:sld xmlns:p="http://schemas.openxmlformats.org/presentationml/2006/main">
  <p:cSld>
    <p:bg>
      <p:bgPr>
        <a:solidFill xmlns:a="http://schemas.openxmlformats.org/drawingml/2006/main">
          <a:srgbClr val="F6F8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6D90F1-D070-4D3D-98C7-B0A19E72E497}"/>
              </a:ext>
            </a:extLst>
          </p:cNvPr>
          <p:cNvSpPr>
            <a:spLocks xmlns:a="http://schemas.openxmlformats.org/drawingml/2006/main" noGrp="1"/>
          </p:cNvSpPr>
          <p:nvPr/>
        </p:nvSpPr>
        <p:spPr>
          <a:xfrm xmlns:a="http://schemas.openxmlformats.org/drawingml/2006/main">
            <a:off x="10858500" y="62865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5766D"/>
                </a:solidFill>
                <a:latin typeface="Arial"/>
                <a:ea typeface="Arial"/>
                <a:cs typeface="Arial"/>
              </a:defRPr>
            </a:pPr>
            <a:r>
              <a:rPr sz="1200" b="0">
                <a:solidFill>
                  <a:srgbClr val="55766D"/>
                </a:solidFill>
                <a:latin typeface="Arial"/>
                <a:ea typeface="Arial"/>
                <a:cs typeface="Arial"/>
              </a:rPr>
              <a:t>06 / 07</a:t>
            </a:r>
          </a:p>
        </p:txBody>
      </p:sp>
      <p:sp>
        <p:nvSpPr>
          <p:cNvPr id="2" name="">
            <a:extLst xmlns:a="http://schemas.openxmlformats.org/drawingml/2006/main">
              <a:ext uri="{FF2B5EF4-FFF2-40B4-BE49-F238E27FC236}">
                <a16:creationId xmlns:a16="http://schemas.microsoft.com/office/drawing/2014/main" id="{E487B5A9-5DDA-44C9-9F59-3A044505CF92}"/>
              </a:ext>
            </a:extLst>
          </p:cNvPr>
          <p:cNvSpPr>
            <a:spLocks xmlns:a="http://schemas.openxmlformats.org/drawingml/2006/main" noGrp="1"/>
          </p:cNvSpPr>
          <p:nvPr/>
        </p:nvSpPr>
        <p:spPr>
          <a:xfrm xmlns:a="http://schemas.openxmlformats.org/drawingml/2006/main">
            <a:off x="685800" y="619125"/>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173D3B"/>
                </a:solidFill>
                <a:latin typeface="Arial"/>
                <a:ea typeface="Arial"/>
                <a:cs typeface="Arial"/>
              </a:defRPr>
            </a:pPr>
            <a:r>
              <a:rPr sz="3750" b="1">
                <a:solidFill>
                  <a:srgbClr val="173D3B"/>
                </a:solidFill>
                <a:latin typeface="Arial"/>
                <a:ea typeface="Arial"/>
                <a:cs typeface="Arial"/>
              </a:rPr>
              <a:t>Estado del prototipo</a:t>
            </a:r>
          </a:p>
        </p:txBody>
      </p:sp>
      <p:sp>
        <p:nvSpPr>
          <p:cNvPr id="3" name="">
            <a:extLst xmlns:a="http://schemas.openxmlformats.org/drawingml/2006/main">
              <a:ext uri="{FF2B5EF4-FFF2-40B4-BE49-F238E27FC236}">
                <a16:creationId xmlns:a16="http://schemas.microsoft.com/office/drawing/2014/main" id="{9355E227-DAF0-432E-8233-89E7F938AE79}"/>
              </a:ext>
            </a:extLst>
          </p:cNvPr>
          <p:cNvSpPr>
            <a:spLocks xmlns:a="http://schemas.openxmlformats.org/drawingml/2006/main" noGrp="1"/>
          </p:cNvSpPr>
          <p:nvPr/>
        </p:nvSpPr>
        <p:spPr>
          <a:xfrm xmlns:a="http://schemas.openxmlformats.org/drawingml/2006/main">
            <a:off x="723900" y="2009775"/>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B"/>
                </a:solidFill>
                <a:latin typeface="Arial"/>
                <a:ea typeface="Arial"/>
                <a:cs typeface="Arial"/>
              </a:defRPr>
            </a:pPr>
            <a:r>
              <a:rPr sz="3300" b="1">
                <a:solidFill>
                  <a:srgbClr val="173D3B"/>
                </a:solidFill>
                <a:latin typeface="Arial"/>
                <a:ea typeface="Arial"/>
                <a:cs typeface="Arial"/>
              </a:rPr>
              <a:t>Preparado</a:t>
            </a:r>
          </a:p>
        </p:txBody>
      </p:sp>
      <p:sp>
        <p:nvSpPr>
          <p:cNvPr id="4" name="">
            <a:extLst xmlns:a="http://schemas.openxmlformats.org/drawingml/2006/main">
              <a:ext uri="{FF2B5EF4-FFF2-40B4-BE49-F238E27FC236}">
                <a16:creationId xmlns:a16="http://schemas.microsoft.com/office/drawing/2014/main" id="{2FDBCFAA-F023-4C5D-8C67-120B8C795703}"/>
              </a:ext>
            </a:extLst>
          </p:cNvPr>
          <p:cNvSpPr>
            <a:spLocks xmlns:a="http://schemas.openxmlformats.org/drawingml/2006/main" noGrp="1"/>
          </p:cNvSpPr>
          <p:nvPr/>
        </p:nvSpPr>
        <p:spPr>
          <a:xfrm xmlns:a="http://schemas.openxmlformats.org/drawingml/2006/main">
            <a:off x="723900" y="2943225"/>
            <a:ext cx="4857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5766D"/>
                </a:solidFill>
                <a:latin typeface="Arial"/>
                <a:ea typeface="Arial"/>
                <a:cs typeface="Arial"/>
              </a:defRPr>
            </a:pPr>
            <a:r>
              <a:rPr sz="2325" b="0">
                <a:solidFill>
                  <a:srgbClr val="55766D"/>
                </a:solidFill>
                <a:latin typeface="Arial"/>
                <a:ea typeface="Arial"/>
                <a:cs typeface="Arial"/>
              </a:rPr>
              <a:t>Interfaz compilada</a:t>
            </a:r>
          </a:p>
          <a:p xmlns:a="http://schemas.openxmlformats.org/drawingml/2006/main">
            <a:pPr>
              <a:defRPr sz="2325" b="0">
                <a:solidFill>
                  <a:srgbClr val="55766D"/>
                </a:solidFill>
                <a:latin typeface="Arial"/>
                <a:ea typeface="Arial"/>
                <a:cs typeface="Arial"/>
              </a:defRPr>
            </a:pPr>
            <a:r>
              <a:rPr sz="2325" b="0">
                <a:solidFill>
                  <a:srgbClr val="55766D"/>
                </a:solidFill>
                <a:latin typeface="Arial"/>
                <a:ea typeface="Arial"/>
                <a:cs typeface="Arial"/>
              </a:rPr>
              <a:t>API con ejemplo ilustrativo</a:t>
            </a:r>
          </a:p>
          <a:p xmlns:a="http://schemas.openxmlformats.org/drawingml/2006/main">
            <a:pPr>
              <a:defRPr sz="2325" b="0">
                <a:solidFill>
                  <a:srgbClr val="55766D"/>
                </a:solidFill>
                <a:latin typeface="Arial"/>
                <a:ea typeface="Arial"/>
                <a:cs typeface="Arial"/>
              </a:defRPr>
            </a:pPr>
            <a:r>
              <a:rPr sz="2325" b="0">
                <a:solidFill>
                  <a:srgbClr val="55766D"/>
                </a:solidFill>
                <a:latin typeface="Arial"/>
                <a:ea typeface="Arial"/>
                <a:cs typeface="Arial"/>
              </a:rPr>
              <a:t>Integración opcional con Gemini</a:t>
            </a:r>
          </a:p>
          <a:p xmlns:a="http://schemas.openxmlformats.org/drawingml/2006/main">
            <a:pPr>
              <a:defRPr sz="2325" b="0">
                <a:solidFill>
                  <a:srgbClr val="55766D"/>
                </a:solidFill>
                <a:latin typeface="Arial"/>
                <a:ea typeface="Arial"/>
                <a:cs typeface="Arial"/>
              </a:defRPr>
            </a:pPr>
            <a:r>
              <a:rPr sz="2325" b="0">
                <a:solidFill>
                  <a:srgbClr val="55766D"/>
                </a:solidFill>
                <a:latin typeface="Arial"/>
                <a:ea typeface="Arial"/>
                <a:cs typeface="Arial"/>
              </a:rPr>
              <a:t>Código de Soroban en GitHub</a:t>
            </a:r>
          </a:p>
        </p:txBody>
      </p:sp>
      <p:sp>
        <p:nvSpPr>
          <p:cNvPr id="5" name="">
            <a:extLst xmlns:a="http://schemas.openxmlformats.org/drawingml/2006/main">
              <a:ext uri="{FF2B5EF4-FFF2-40B4-BE49-F238E27FC236}">
                <a16:creationId xmlns:a16="http://schemas.microsoft.com/office/drawing/2014/main" id="{8B449DB8-95B2-47AB-B084-F1C40E045492}"/>
              </a:ext>
            </a:extLst>
          </p:cNvPr>
          <p:cNvSpPr>
            <a:spLocks xmlns:a="http://schemas.openxmlformats.org/drawingml/2006/main" noGrp="1"/>
          </p:cNvSpPr>
          <p:nvPr/>
        </p:nvSpPr>
        <p:spPr>
          <a:xfrm xmlns:a="http://schemas.openxmlformats.org/drawingml/2006/main">
            <a:off x="6343650" y="2009775"/>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73D3B"/>
                </a:solidFill>
                <a:latin typeface="Arial"/>
                <a:ea typeface="Arial"/>
                <a:cs typeface="Arial"/>
              </a:defRPr>
            </a:pPr>
            <a:r>
              <a:rPr sz="3075" b="1">
                <a:solidFill>
                  <a:srgbClr val="173D3B"/>
                </a:solidFill>
                <a:latin typeface="Arial"/>
                <a:ea typeface="Arial"/>
                <a:cs typeface="Arial"/>
              </a:rPr>
              <a:t>Pendiente de verificar</a:t>
            </a:r>
          </a:p>
        </p:txBody>
      </p:sp>
      <p:sp>
        <p:nvSpPr>
          <p:cNvPr id="6" name="">
            <a:extLst xmlns:a="http://schemas.openxmlformats.org/drawingml/2006/main">
              <a:ext uri="{FF2B5EF4-FFF2-40B4-BE49-F238E27FC236}">
                <a16:creationId xmlns:a16="http://schemas.microsoft.com/office/drawing/2014/main" id="{CA6E6FD2-7F34-45CC-B984-477D34383582}"/>
              </a:ext>
            </a:extLst>
          </p:cNvPr>
          <p:cNvSpPr>
            <a:spLocks xmlns:a="http://schemas.openxmlformats.org/drawingml/2006/main" noGrp="1"/>
          </p:cNvSpPr>
          <p:nvPr/>
        </p:nvSpPr>
        <p:spPr>
          <a:xfrm xmlns:a="http://schemas.openxmlformats.org/drawingml/2006/main">
            <a:off x="6343650" y="2943225"/>
            <a:ext cx="5238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5766D"/>
                </a:solidFill>
                <a:latin typeface="Arial"/>
                <a:ea typeface="Arial"/>
                <a:cs typeface="Arial"/>
              </a:defRPr>
            </a:pPr>
            <a:r>
              <a:rPr sz="2325" b="0">
                <a:solidFill>
                  <a:srgbClr val="55766D"/>
                </a:solidFill>
                <a:latin typeface="Arial"/>
                <a:ea typeface="Arial"/>
                <a:cs typeface="Arial"/>
              </a:rPr>
              <a:t>Contrato desplegado en Testnet</a:t>
            </a:r>
          </a:p>
          <a:p xmlns:a="http://schemas.openxmlformats.org/drawingml/2006/main">
            <a:pPr>
              <a:defRPr sz="2325" b="0">
                <a:solidFill>
                  <a:srgbClr val="55766D"/>
                </a:solidFill>
                <a:latin typeface="Arial"/>
                <a:ea typeface="Arial"/>
                <a:cs typeface="Arial"/>
              </a:defRPr>
            </a:pPr>
            <a:r>
              <a:rPr sz="2325" b="0">
                <a:solidFill>
                  <a:srgbClr val="55766D"/>
                </a:solidFill>
                <a:latin typeface="Arial"/>
                <a:ea typeface="Arial"/>
                <a:cs typeface="Arial"/>
              </a:rPr>
              <a:t>Publicación automática del oráculo</a:t>
            </a:r>
          </a:p>
          <a:p xmlns:a="http://schemas.openxmlformats.org/drawingml/2006/main">
            <a:pPr>
              <a:defRPr sz="2325" b="0">
                <a:solidFill>
                  <a:srgbClr val="55766D"/>
                </a:solidFill>
                <a:latin typeface="Arial"/>
                <a:ea typeface="Arial"/>
                <a:cs typeface="Arial"/>
              </a:defRPr>
            </a:pPr>
            <a:r>
              <a:rPr sz="2325" b="0">
                <a:solidFill>
                  <a:srgbClr val="55766D"/>
                </a:solidFill>
                <a:latin typeface="Arial"/>
                <a:ea typeface="Arial"/>
                <a:cs typeface="Arial"/>
              </a:rPr>
              <a:t>Compra desde la interfaz</a:t>
            </a:r>
          </a:p>
          <a:p xmlns:a="http://schemas.openxmlformats.org/drawingml/2006/main">
            <a:pPr>
              <a:defRPr sz="2325" b="0">
                <a:solidFill>
                  <a:srgbClr val="55766D"/>
                </a:solidFill>
                <a:latin typeface="Arial"/>
                <a:ea typeface="Arial"/>
                <a:cs typeface="Arial"/>
              </a:defRPr>
            </a:pPr>
            <a:r>
              <a:rPr sz="2325" b="0">
                <a:solidFill>
                  <a:srgbClr val="55766D"/>
                </a:solidFill>
                <a:latin typeface="Arial"/>
                <a:ea typeface="Arial"/>
                <a:cs typeface="Arial"/>
              </a:rPr>
              <a:t>Recibo y estado persistente</a:t>
            </a:r>
          </a:p>
        </p:txBody>
      </p:sp>
      <p:sp>
        <p:nvSpPr>
          <p:cNvPr id="7" name="">
            <a:extLst xmlns:a="http://schemas.openxmlformats.org/drawingml/2006/main">
              <a:ext uri="{FF2B5EF4-FFF2-40B4-BE49-F238E27FC236}">
                <a16:creationId xmlns:a16="http://schemas.microsoft.com/office/drawing/2014/main" id="{F7DAF986-2F99-4E2C-82A5-45CD209100B8}"/>
              </a:ext>
            </a:extLst>
          </p:cNvPr>
          <p:cNvSpPr>
            <a:spLocks xmlns:a="http://schemas.openxmlformats.org/drawingml/2006/main" noGrp="1"/>
          </p:cNvSpPr>
          <p:nvPr/>
        </p:nvSpPr>
        <p:spPr>
          <a:xfrm xmlns:a="http://schemas.openxmlformats.org/drawingml/2006/main">
            <a:off x="723900" y="57150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3D3B"/>
                </a:solidFill>
                <a:latin typeface="Arial"/>
                <a:ea typeface="Arial"/>
                <a:cs typeface="Arial"/>
              </a:defRPr>
            </a:pPr>
            <a:r>
              <a:rPr sz="1950" b="1">
                <a:solidFill>
                  <a:srgbClr val="173D3B"/>
                </a:solidFill>
                <a:latin typeface="Arial"/>
                <a:ea typeface="Arial"/>
                <a:cs typeface="Arial"/>
              </a:rPr>
              <a:t>El registro digital no sustituye la transmisión legal del inmueble</a:t>
            </a:r>
          </a:p>
        </p:txBody>
      </p:sp>
    </p:spTree>
    <p:extLst>
      <p:ext uri="{BB962C8B-B14F-4D97-AF65-F5344CB8AC3E}">
        <p14:creationId xmlns:p14="http://schemas.microsoft.com/office/powerpoint/2010/main" val="42019858"/>
      </p:ext>
    </p:extLst>
  </p:cSld>
</p:sld>
</file>

<file path=ppt/slides/slide7.xml><?xml version="1.0" encoding="utf-8"?>
<p:sld xmlns:p="http://schemas.openxmlformats.org/presentationml/2006/main">
  <p:cSld>
    <p:bg>
      <p:bgPr>
        <a:solidFill xmlns:a="http://schemas.openxmlformats.org/drawingml/2006/main">
          <a:srgbClr val="122B2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F49F32-2590-4CE9-AE9C-B32FAEAD47C5}"/>
              </a:ext>
            </a:extLst>
          </p:cNvPr>
          <p:cNvSpPr>
            <a:spLocks xmlns:a="http://schemas.openxmlformats.org/drawingml/2006/main" noGrp="1"/>
          </p:cNvSpPr>
          <p:nvPr/>
        </p:nvSpPr>
        <p:spPr>
          <a:xfrm xmlns:a="http://schemas.openxmlformats.org/drawingml/2006/main">
            <a:off x="10858500" y="62865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A9C6BC"/>
                </a:solidFill>
                <a:latin typeface="Arial"/>
                <a:ea typeface="Arial"/>
                <a:cs typeface="Arial"/>
              </a:defRPr>
            </a:pPr>
            <a:r>
              <a:rPr sz="1200" b="0">
                <a:solidFill>
                  <a:srgbClr val="A9C6BC"/>
                </a:solidFill>
                <a:latin typeface="Arial"/>
                <a:ea typeface="Arial"/>
                <a:cs typeface="Arial"/>
              </a:rPr>
              <a:t>07 / 07</a:t>
            </a:r>
          </a:p>
        </p:txBody>
      </p:sp>
      <p:sp>
        <p:nvSpPr>
          <p:cNvPr id="2" name="">
            <a:extLst xmlns:a="http://schemas.openxmlformats.org/drawingml/2006/main">
              <a:ext uri="{FF2B5EF4-FFF2-40B4-BE49-F238E27FC236}">
                <a16:creationId xmlns:a16="http://schemas.microsoft.com/office/drawing/2014/main" id="{0B11300E-C826-471C-8E46-5EFD32AA7BF3}"/>
              </a:ext>
            </a:extLst>
          </p:cNvPr>
          <p:cNvSpPr>
            <a:spLocks xmlns:a="http://schemas.openxmlformats.org/drawingml/2006/main" noGrp="1"/>
          </p:cNvSpPr>
          <p:nvPr/>
        </p:nvSpPr>
        <p:spPr>
          <a:xfrm xmlns:a="http://schemas.openxmlformats.org/drawingml/2006/main">
            <a:off x="685800" y="63817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F6F8F4"/>
                </a:solidFill>
                <a:latin typeface="Arial"/>
                <a:ea typeface="Arial"/>
                <a:cs typeface="Arial"/>
              </a:defRPr>
            </a:pPr>
            <a:r>
              <a:rPr sz="3750" b="1">
                <a:solidFill>
                  <a:srgbClr val="F6F8F4"/>
                </a:solidFill>
                <a:latin typeface="Arial"/>
                <a:ea typeface="Arial"/>
                <a:cs typeface="Arial"/>
              </a:rPr>
              <a:t>Un piloto verificable en Testnet</a:t>
            </a:r>
          </a:p>
        </p:txBody>
      </p:sp>
      <p:sp>
        <p:nvSpPr>
          <p:cNvPr id="3" name="">
            <a:extLst xmlns:a="http://schemas.openxmlformats.org/drawingml/2006/main">
              <a:ext uri="{FF2B5EF4-FFF2-40B4-BE49-F238E27FC236}">
                <a16:creationId xmlns:a16="http://schemas.microsoft.com/office/drawing/2014/main" id="{BF10E186-5ABB-4A44-891E-9C38D582383A}"/>
              </a:ext>
            </a:extLst>
          </p:cNvPr>
          <p:cNvSpPr>
            <a:spLocks xmlns:a="http://schemas.openxmlformats.org/drawingml/2006/main" noGrp="1"/>
          </p:cNvSpPr>
          <p:nvPr/>
        </p:nvSpPr>
        <p:spPr>
          <a:xfrm xmlns:a="http://schemas.openxmlformats.org/drawingml/2006/main">
            <a:off x="723900" y="2019300"/>
            <a:ext cx="9144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9C6BC"/>
                </a:solidFill>
                <a:latin typeface="Arial"/>
                <a:ea typeface="Arial"/>
                <a:cs typeface="Arial"/>
              </a:defRPr>
            </a:pPr>
            <a:r>
              <a:rPr sz="1950" b="0">
                <a:solidFill>
                  <a:srgbClr val="A9C6BC"/>
                </a:solidFill>
                <a:latin typeface="Arial"/>
                <a:ea typeface="Arial"/>
                <a:cs typeface="Arial"/>
              </a:rPr>
              <a:t>Primer cliente propuesto</a:t>
            </a:r>
          </a:p>
        </p:txBody>
      </p:sp>
      <p:sp>
        <p:nvSpPr>
          <p:cNvPr id="4" name="">
            <a:extLst xmlns:a="http://schemas.openxmlformats.org/drawingml/2006/main">
              <a:ext uri="{FF2B5EF4-FFF2-40B4-BE49-F238E27FC236}">
                <a16:creationId xmlns:a16="http://schemas.microsoft.com/office/drawing/2014/main" id="{719BF4B0-4CAC-4CCF-9A6A-0DFAB792786D}"/>
              </a:ext>
            </a:extLst>
          </p:cNvPr>
          <p:cNvSpPr>
            <a:spLocks xmlns:a="http://schemas.openxmlformats.org/drawingml/2006/main" noGrp="1"/>
          </p:cNvSpPr>
          <p:nvPr/>
        </p:nvSpPr>
        <p:spPr>
          <a:xfrm xmlns:a="http://schemas.openxmlformats.org/drawingml/2006/main">
            <a:off x="723900" y="2600325"/>
            <a:ext cx="101441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C7F2CA"/>
                </a:solidFill>
                <a:latin typeface="Arial"/>
                <a:ea typeface="Arial"/>
                <a:cs typeface="Arial"/>
              </a:defRPr>
            </a:pPr>
            <a:r>
              <a:rPr sz="4950" b="1">
                <a:solidFill>
                  <a:srgbClr val="C7F2CA"/>
                </a:solidFill>
                <a:latin typeface="Arial"/>
                <a:ea typeface="Arial"/>
                <a:cs typeface="Arial"/>
              </a:rPr>
              <a:t>Desarrolladores de</a:t>
            </a:r>
          </a:p>
          <a:p xmlns:a="http://schemas.openxmlformats.org/drawingml/2006/main">
            <a:pPr>
              <a:defRPr sz="4950" b="1">
                <a:solidFill>
                  <a:srgbClr val="C7F2CA"/>
                </a:solidFill>
                <a:latin typeface="Arial"/>
                <a:ea typeface="Arial"/>
                <a:cs typeface="Arial"/>
              </a:defRPr>
            </a:pPr>
            <a:r>
              <a:rPr sz="4950" b="1">
                <a:solidFill>
                  <a:srgbClr val="C7F2CA"/>
                </a:solidFill>
                <a:latin typeface="Arial"/>
                <a:ea typeface="Arial"/>
                <a:cs typeface="Arial"/>
              </a:rPr>
              <a:t>fraccionamientos</a:t>
            </a:r>
          </a:p>
        </p:txBody>
      </p:sp>
      <p:sp>
        <p:nvSpPr>
          <p:cNvPr id="5" name="">
            <a:extLst xmlns:a="http://schemas.openxmlformats.org/drawingml/2006/main">
              <a:ext uri="{FF2B5EF4-FFF2-40B4-BE49-F238E27FC236}">
                <a16:creationId xmlns:a16="http://schemas.microsoft.com/office/drawing/2014/main" id="{BB5115C7-0E91-40CE-921C-AAAF4BC90985}"/>
              </a:ext>
            </a:extLst>
          </p:cNvPr>
          <p:cNvSpPr>
            <a:spLocks xmlns:a="http://schemas.openxmlformats.org/drawingml/2006/main" noGrp="1"/>
          </p:cNvSpPr>
          <p:nvPr/>
        </p:nvSpPr>
        <p:spPr>
          <a:xfrm xmlns:a="http://schemas.openxmlformats.org/drawingml/2006/main">
            <a:off x="723900" y="4448175"/>
            <a:ext cx="1038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6F8F4"/>
                </a:solidFill>
                <a:latin typeface="Arial"/>
                <a:ea typeface="Arial"/>
                <a:cs typeface="Arial"/>
              </a:defRPr>
            </a:pPr>
            <a:r>
              <a:rPr sz="2250" b="0">
                <a:solidFill>
                  <a:srgbClr val="F6F8F4"/>
                </a:solidFill>
                <a:latin typeface="Arial"/>
                <a:ea typeface="Arial"/>
                <a:cs typeface="Arial"/>
              </a:rPr>
              <a:t>Modelo por validar: suscripción para gestionar el inventario</a:t>
            </a:r>
          </a:p>
          <a:p xmlns:a="http://schemas.openxmlformats.org/drawingml/2006/main">
            <a:pPr>
              <a:defRPr sz="2250" b="0">
                <a:solidFill>
                  <a:srgbClr val="F6F8F4"/>
                </a:solidFill>
                <a:latin typeface="Arial"/>
                <a:ea typeface="Arial"/>
                <a:cs typeface="Arial"/>
              </a:defRPr>
            </a:pPr>
            <a:r>
              <a:rPr sz="2250" b="0">
                <a:solidFill>
                  <a:srgbClr val="F6F8F4"/>
                </a:solidFill>
                <a:latin typeface="Arial"/>
                <a:ea typeface="Arial"/>
                <a:cs typeface="Arial"/>
              </a:rPr>
              <a:t>y cobro por operaciones</a:t>
            </a:r>
          </a:p>
        </p:txBody>
      </p:sp>
      <p:sp>
        <p:nvSpPr>
          <p:cNvPr id="6" name="">
            <a:extLst xmlns:a="http://schemas.openxmlformats.org/drawingml/2006/main">
              <a:ext uri="{FF2B5EF4-FFF2-40B4-BE49-F238E27FC236}">
                <a16:creationId xmlns:a16="http://schemas.microsoft.com/office/drawing/2014/main" id="{7E244EE7-A99F-40CC-AD8E-FEC19BACDB37}"/>
              </a:ext>
            </a:extLst>
          </p:cNvPr>
          <p:cNvSpPr>
            <a:spLocks xmlns:a="http://schemas.openxmlformats.org/drawingml/2006/main" noGrp="1"/>
          </p:cNvSpPr>
          <p:nvPr/>
        </p:nvSpPr>
        <p:spPr>
          <a:xfrm xmlns:a="http://schemas.openxmlformats.org/drawingml/2006/main">
            <a:off x="723900" y="561975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9C6BC"/>
                </a:solidFill>
                <a:latin typeface="Arial"/>
                <a:ea typeface="Arial"/>
                <a:cs typeface="Arial"/>
              </a:defRPr>
            </a:pPr>
            <a:r>
              <a:rPr sz="1950" b="0">
                <a:solidFill>
                  <a:srgbClr val="A9C6BC"/>
                </a:solidFill>
                <a:latin typeface="Arial"/>
                <a:ea typeface="Arial"/>
                <a:cs typeface="Arial"/>
              </a:rPr>
              <a:t>Siguiente paso: fuentes verificables y una operación completa de prueba</a:t>
            </a:r>
          </a:p>
        </p:txBody>
      </p:sp>
    </p:spTree>
    <p:extLst>
      <p:ext uri="{BB962C8B-B14F-4D97-AF65-F5344CB8AC3E}">
        <p14:creationId xmlns:p14="http://schemas.microsoft.com/office/powerpoint/2010/main" val="1161958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2026-10-04T01:38:40.0660000Z</dcterms:created>
  <dcterms:modified xsi:type="dcterms:W3CDTF">2026-10-04T01:38:40.0660000Z</dcterms:modified>
</coreProperties>
</file>